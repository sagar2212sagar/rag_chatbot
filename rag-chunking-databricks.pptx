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talk: two ideas. RAG is how the bot answers. Chunking is how the documents are prepared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three steps. The middle step is where RAG and chunking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open-book exam analogy. A student who looks up the page answers better than one who guesses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a plain AI chatbot, which answers from memory and can make up company policy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pieces are easy to search. The bot searches the cards, not the whole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each chunk should hold one complete idea. Too small loses meaning, too large mixes topics and weakens the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runs once in notebook 01 when the job runs. The chunks are saved in a table, and the search index is built from that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chunk is what the bot finds when someone asks about annual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in one example: chunks make the search precise, and RAG turns the found chunk into a clear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building blocks. Volume holds files, Vector Search finds chunks, Model Serving answers, the App is the UI, and the Asset Bundle deploys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row first: documents flow into the index, then the App asks the index for chunks. The App then calls Model Serving. The asset bundle deploys all of it, and Unity Catalog governs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8778240" y="-914400"/>
            <a:ext cx="4572000" cy="4572000"/>
          </a:xfrm>
          <a:prstGeom prst="ellipse">
            <a:avLst/>
          </a:prstGeom>
          <a:solidFill>
            <a:srgbClr val="0E8C84">
              <a:alpha val="35000"/>
            </a:srgbClr>
          </a:solidFill>
          <a:ln w="12700">
            <a:solidFill>
              <a:srgbClr val="0E8C84">
                <a:alpha val="35000"/>
              </a:srgbClr>
            </a:solidFill>
            <a:prstDash val="solid"/>
          </a:ln>
        </p:spPr>
      </p:sp>
      <p:sp>
        <p:nvSpPr>
          <p:cNvPr id="3" name="Shape 1"/>
          <p:cNvSpPr/>
          <p:nvPr/>
        </p:nvSpPr>
        <p:spPr>
          <a:xfrm>
            <a:off x="10058400" y="4389120"/>
            <a:ext cx="2560320" cy="2560320"/>
          </a:xfrm>
          <a:prstGeom prst="ellipse">
            <a:avLst/>
          </a:prstGeom>
          <a:solidFill>
            <a:srgbClr val="D9542F">
              <a:alpha val="50000"/>
            </a:srgbClr>
          </a:solidFill>
          <a:ln w="12700">
            <a:solidFill>
              <a:srgbClr val="D9542F">
                <a:alpha val="50000"/>
              </a:srgbClr>
            </a:solidFill>
            <a:prstDash val="solid"/>
          </a:ln>
        </p:spPr>
      </p:sp>
      <p:sp>
        <p:nvSpPr>
          <p:cNvPr id="4" name="Text 2"/>
          <p:cNvSpPr txBox="1"/>
          <p:nvPr/>
        </p:nvSpPr>
        <p:spPr>
          <a:xfrm>
            <a:off x="731520" y="1737360"/>
            <a:ext cx="8229600" cy="365760"/>
          </a:xfrm>
          <a:prstGeom prst="rect">
            <a:avLst/>
          </a:prstGeom>
          <a:noFill/>
          <a:ln/>
        </p:spPr>
        <p:txBody>
          <a:bodyPr wrap="square" lIns="0" tIns="0" rIns="0" bIns="0" rtlCol="0" anchor="ctr"/>
          <a:lstStyle/>
          <a:p>
            <a:pPr indent="0" marL="0">
              <a:buNone/>
            </a:pPr>
            <a:r>
              <a:rPr lang="en-US" sz="1500" b="1" spc="200" kern="0" dirty="0">
                <a:solidFill>
                  <a:srgbClr val="D9542F"/>
                </a:solidFill>
                <a:latin typeface="Calibri" pitchFamily="34" charset="0"/>
                <a:ea typeface="Calibri" pitchFamily="34" charset="-122"/>
                <a:cs typeface="Calibri" pitchFamily="34" charset="-120"/>
              </a:rPr>
              <a:t>ACME DOCS ASSISTANT</a:t>
            </a:r>
            <a:endParaRPr lang="en-US" sz="1500" dirty="0"/>
          </a:p>
        </p:txBody>
      </p:sp>
      <p:sp>
        <p:nvSpPr>
          <p:cNvPr id="5" name="Text 3"/>
          <p:cNvSpPr txBox="1"/>
          <p:nvPr/>
        </p:nvSpPr>
        <p:spPr>
          <a:xfrm>
            <a:off x="731520" y="2194560"/>
            <a:ext cx="9601200" cy="1463040"/>
          </a:xfrm>
          <a:prstGeom prst="rect">
            <a:avLst/>
          </a:prstGeom>
          <a:noFill/>
          <a:ln/>
        </p:spPr>
        <p:txBody>
          <a:bodyPr wrap="square" lIns="0" tIns="0" rIns="0" bIns="0"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How It Works: RAG and Chunking</a:t>
            </a:r>
            <a:endParaRPr lang="en-US" sz="5200" dirty="0"/>
          </a:p>
        </p:txBody>
      </p:sp>
      <p:sp>
        <p:nvSpPr>
          <p:cNvPr id="6" name="Text 4"/>
          <p:cNvSpPr txBox="1"/>
          <p:nvPr/>
        </p:nvSpPr>
        <p:spPr>
          <a:xfrm>
            <a:off x="731520" y="3840480"/>
            <a:ext cx="8686800" cy="73152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A simple guide to how our chatbot finds the right answer in company documents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THE BIG PICTURE</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What the assistant does</a:t>
            </a:r>
            <a:endParaRPr lang="en-US" sz="3600" dirty="0"/>
          </a:p>
        </p:txBody>
      </p:sp>
      <p:sp>
        <p:nvSpPr>
          <p:cNvPr id="4" name="Shape 2"/>
          <p:cNvSpPr/>
          <p:nvPr/>
        </p:nvSpPr>
        <p:spPr>
          <a:xfrm>
            <a:off x="548640" y="2377440"/>
            <a:ext cx="3291840" cy="2011680"/>
          </a:xfrm>
          <a:prstGeom prst="roundRect">
            <a:avLst>
              <a:gd name="adj" fmla="val 5455"/>
            </a:avLst>
          </a:prstGeom>
          <a:solidFill>
            <a:srgbClr val="1B2A41"/>
          </a:solidFill>
          <a:ln w="12700">
            <a:solidFill>
              <a:srgbClr val="1B2A41"/>
            </a:solidFill>
            <a:prstDash val="solid"/>
          </a:ln>
          <a:effectLst>
            <a:outerShdw sx="100000" sy="100000" kx="0" ky="0" algn="bl" rotWithShape="0" blurRad="76200" dist="25400" dir="5400000">
              <a:srgbClr val="000000">
                <a:alpha val="15000"/>
              </a:srgbClr>
            </a:outerShdw>
          </a:effectLst>
        </p:spPr>
      </p:sp>
      <p:sp>
        <p:nvSpPr>
          <p:cNvPr id="5" name="Text 3"/>
          <p:cNvSpPr txBox="1"/>
          <p:nvPr/>
        </p:nvSpPr>
        <p:spPr>
          <a:xfrm>
            <a:off x="685800" y="2377440"/>
            <a:ext cx="3017520" cy="2011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Employee asks</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"How many days of leave do I get?"</a:t>
            </a:r>
            <a:endParaRPr lang="en-US" sz="1900" dirty="0"/>
          </a:p>
        </p:txBody>
      </p:sp>
      <p:sp>
        <p:nvSpPr>
          <p:cNvPr id="6" name="Shape 4"/>
          <p:cNvSpPr/>
          <p:nvPr/>
        </p:nvSpPr>
        <p:spPr>
          <a:xfrm>
            <a:off x="3931920" y="3383280"/>
            <a:ext cx="640080" cy="0"/>
          </a:xfrm>
          <a:prstGeom prst="line">
            <a:avLst/>
          </a:prstGeom>
          <a:noFill/>
          <a:ln w="31750">
            <a:solidFill>
              <a:srgbClr val="5B6B82"/>
            </a:solidFill>
            <a:prstDash val="solid"/>
            <a:tailEnd type="triangle"/>
          </a:ln>
        </p:spPr>
      </p:sp>
      <p:sp>
        <p:nvSpPr>
          <p:cNvPr id="7" name="Shape 5"/>
          <p:cNvSpPr/>
          <p:nvPr/>
        </p:nvSpPr>
        <p:spPr>
          <a:xfrm>
            <a:off x="4572000" y="2377440"/>
            <a:ext cx="3291840" cy="2011680"/>
          </a:xfrm>
          <a:prstGeom prst="roundRect">
            <a:avLst>
              <a:gd name="adj" fmla="val 5455"/>
            </a:avLst>
          </a:prstGeom>
          <a:solidFill>
            <a:srgbClr val="0E8C84"/>
          </a:solidFill>
          <a:ln w="12700">
            <a:solidFill>
              <a:srgbClr val="0E8C84"/>
            </a:solidFill>
            <a:prstDash val="solid"/>
          </a:ln>
          <a:effectLst>
            <a:outerShdw sx="100000" sy="100000" kx="0" ky="0" algn="bl" rotWithShape="0" blurRad="76200" dist="25400" dir="5400000">
              <a:srgbClr val="000000">
                <a:alpha val="15000"/>
              </a:srgbClr>
            </a:outerShdw>
          </a:effectLst>
        </p:spPr>
      </p:sp>
      <p:sp>
        <p:nvSpPr>
          <p:cNvPr id="8" name="Text 6"/>
          <p:cNvSpPr txBox="1"/>
          <p:nvPr/>
        </p:nvSpPr>
        <p:spPr>
          <a:xfrm>
            <a:off x="4709160" y="2377440"/>
            <a:ext cx="3017520" cy="2011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Bot finds</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the right part of our policy documents</a:t>
            </a:r>
            <a:endParaRPr lang="en-US" sz="1900" dirty="0"/>
          </a:p>
        </p:txBody>
      </p:sp>
      <p:sp>
        <p:nvSpPr>
          <p:cNvPr id="9" name="Shape 7"/>
          <p:cNvSpPr/>
          <p:nvPr/>
        </p:nvSpPr>
        <p:spPr>
          <a:xfrm>
            <a:off x="7955280" y="3383280"/>
            <a:ext cx="640080" cy="0"/>
          </a:xfrm>
          <a:prstGeom prst="line">
            <a:avLst/>
          </a:prstGeom>
          <a:noFill/>
          <a:ln w="31750">
            <a:solidFill>
              <a:srgbClr val="5B6B82"/>
            </a:solidFill>
            <a:prstDash val="solid"/>
            <a:tailEnd type="triangle"/>
          </a:ln>
        </p:spPr>
      </p:sp>
      <p:sp>
        <p:nvSpPr>
          <p:cNvPr id="10" name="Shape 8"/>
          <p:cNvSpPr/>
          <p:nvPr/>
        </p:nvSpPr>
        <p:spPr>
          <a:xfrm>
            <a:off x="8595360" y="2377440"/>
            <a:ext cx="3017520" cy="2011680"/>
          </a:xfrm>
          <a:prstGeom prst="roundRect">
            <a:avLst>
              <a:gd name="adj" fmla="val 5455"/>
            </a:avLst>
          </a:prstGeom>
          <a:solidFill>
            <a:srgbClr val="D9542F"/>
          </a:solidFill>
          <a:ln w="12700">
            <a:solidFill>
              <a:srgbClr val="D9542F"/>
            </a:solidFill>
            <a:prstDash val="solid"/>
          </a:ln>
          <a:effectLst>
            <a:outerShdw sx="100000" sy="100000" kx="0" ky="0" algn="bl" rotWithShape="0" blurRad="76200" dist="25400" dir="5400000">
              <a:srgbClr val="000000">
                <a:alpha val="15000"/>
              </a:srgbClr>
            </a:outerShdw>
          </a:effectLst>
        </p:spPr>
      </p:sp>
      <p:sp>
        <p:nvSpPr>
          <p:cNvPr id="11" name="Text 9"/>
          <p:cNvSpPr txBox="1"/>
          <p:nvPr/>
        </p:nvSpPr>
        <p:spPr>
          <a:xfrm>
            <a:off x="8732520" y="2377440"/>
            <a:ext cx="2743200" cy="2011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Bot answers</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with the source file name</a:t>
            </a:r>
            <a:endParaRPr lang="en-US" sz="1900" dirty="0"/>
          </a:p>
        </p:txBody>
      </p:sp>
      <p:sp>
        <p:nvSpPr>
          <p:cNvPr id="12" name="Text 10"/>
          <p:cNvSpPr txBox="1"/>
          <p:nvPr/>
        </p:nvSpPr>
        <p:spPr>
          <a:xfrm>
            <a:off x="548640" y="5029200"/>
            <a:ext cx="10972800" cy="548640"/>
          </a:xfrm>
          <a:prstGeom prst="rect">
            <a:avLst/>
          </a:prstGeom>
          <a:noFill/>
          <a:ln/>
        </p:spPr>
        <p:txBody>
          <a:bodyPr wrap="square" lIns="0" tIns="0" rIns="0" bIns="0" rtlCol="0" anchor="ctr"/>
          <a:lstStyle/>
          <a:p>
            <a:pPr indent="0" marL="0">
              <a:buNone/>
            </a:pPr>
            <a:r>
              <a:rPr lang="en-US" sz="1800" i="1" dirty="0">
                <a:solidFill>
                  <a:srgbClr val="5B6B82"/>
                </a:solidFill>
                <a:latin typeface="Calibri" pitchFamily="34" charset="0"/>
                <a:ea typeface="Calibri" pitchFamily="34" charset="-122"/>
                <a:cs typeface="Calibri" pitchFamily="34" charset="-120"/>
              </a:rPr>
              <a:t>Answers come only from our documents, so the bot can say when it does not know.</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CONCEPT 1</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What is RAG?</a:t>
            </a:r>
            <a:endParaRPr lang="en-US" sz="3600" dirty="0"/>
          </a:p>
        </p:txBody>
      </p:sp>
      <p:sp>
        <p:nvSpPr>
          <p:cNvPr id="4" name="Text 2"/>
          <p:cNvSpPr txBox="1"/>
          <p:nvPr/>
        </p:nvSpPr>
        <p:spPr>
          <a:xfrm>
            <a:off x="548640" y="1737360"/>
            <a:ext cx="10972800" cy="457200"/>
          </a:xfrm>
          <a:prstGeom prst="rect">
            <a:avLst/>
          </a:prstGeom>
          <a:noFill/>
          <a:ln/>
        </p:spPr>
        <p:txBody>
          <a:bodyPr wrap="square" lIns="0" tIns="0" rIns="0" bIns="0" rtlCol="0" anchor="ctr"/>
          <a:lstStyle/>
          <a:p>
            <a:pPr indent="0" marL="0">
              <a:buNone/>
            </a:pPr>
            <a:r>
              <a:rPr lang="en-US" sz="2000" dirty="0">
                <a:solidFill>
                  <a:srgbClr val="1B2A41"/>
                </a:solidFill>
                <a:latin typeface="Calibri" pitchFamily="34" charset="0"/>
                <a:ea typeface="Calibri" pitchFamily="34" charset="-122"/>
                <a:cs typeface="Calibri" pitchFamily="34" charset="-120"/>
              </a:rPr>
              <a:t>RAG stands for Retrieval-Augmented Generation.</a:t>
            </a:r>
            <a:endParaRPr lang="en-US" sz="2000" dirty="0"/>
          </a:p>
        </p:txBody>
      </p:sp>
      <p:sp>
        <p:nvSpPr>
          <p:cNvPr id="5" name="Text 3"/>
          <p:cNvSpPr txBox="1"/>
          <p:nvPr/>
        </p:nvSpPr>
        <p:spPr>
          <a:xfrm>
            <a:off x="548640" y="2194560"/>
            <a:ext cx="10972800" cy="457200"/>
          </a:xfrm>
          <a:prstGeom prst="rect">
            <a:avLst/>
          </a:prstGeom>
          <a:noFill/>
          <a:ln/>
        </p:spPr>
        <p:txBody>
          <a:bodyPr wrap="square" lIns="0" tIns="0" rIns="0" bIns="0" rtlCol="0" anchor="ctr"/>
          <a:lstStyle/>
          <a:p>
            <a:pPr indent="0" marL="0">
              <a:buNone/>
            </a:pPr>
            <a:r>
              <a:rPr lang="en-US" sz="2000" dirty="0">
                <a:solidFill>
                  <a:srgbClr val="1B2A41"/>
                </a:solidFill>
                <a:latin typeface="Calibri" pitchFamily="34" charset="0"/>
                <a:ea typeface="Calibri" pitchFamily="34" charset="-122"/>
                <a:cs typeface="Calibri" pitchFamily="34" charset="-120"/>
              </a:rPr>
              <a:t>It means: find the useful text first, then let the AI write the answer from that text.</a:t>
            </a:r>
            <a:endParaRPr lang="en-US" sz="2000" dirty="0"/>
          </a:p>
        </p:txBody>
      </p:sp>
      <p:sp>
        <p:nvSpPr>
          <p:cNvPr id="6" name="Shape 4"/>
          <p:cNvSpPr/>
          <p:nvPr/>
        </p:nvSpPr>
        <p:spPr>
          <a:xfrm>
            <a:off x="548640" y="3017520"/>
            <a:ext cx="3474720" cy="1828800"/>
          </a:xfrm>
          <a:prstGeom prst="roundRect">
            <a:avLst>
              <a:gd name="adj" fmla="val 6000"/>
            </a:avLst>
          </a:prstGeom>
          <a:solidFill>
            <a:srgbClr val="0E8C84"/>
          </a:solidFill>
          <a:ln w="12700">
            <a:solidFill>
              <a:srgbClr val="0E8C84"/>
            </a:solidFill>
            <a:prstDash val="solid"/>
          </a:ln>
          <a:effectLst>
            <a:outerShdw sx="100000" sy="100000" kx="0" ky="0" algn="bl" rotWithShape="0" blurRad="76200" dist="25400" dir="5400000">
              <a:srgbClr val="000000">
                <a:alpha val="15000"/>
              </a:srgbClr>
            </a:outerShdw>
          </a:effectLst>
        </p:spPr>
      </p:sp>
      <p:sp>
        <p:nvSpPr>
          <p:cNvPr id="7" name="Text 5"/>
          <p:cNvSpPr txBox="1"/>
          <p:nvPr/>
        </p:nvSpPr>
        <p:spPr>
          <a:xfrm>
            <a:off x="685800" y="3017520"/>
            <a:ext cx="3200400" cy="18288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  Retrieve</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Search our documents for the relevant part</a:t>
            </a:r>
            <a:endParaRPr lang="en-US" sz="1900" dirty="0"/>
          </a:p>
        </p:txBody>
      </p:sp>
      <p:sp>
        <p:nvSpPr>
          <p:cNvPr id="8" name="Shape 6"/>
          <p:cNvSpPr/>
          <p:nvPr/>
        </p:nvSpPr>
        <p:spPr>
          <a:xfrm>
            <a:off x="4069080" y="3931920"/>
            <a:ext cx="182880" cy="0"/>
          </a:xfrm>
          <a:prstGeom prst="line">
            <a:avLst/>
          </a:prstGeom>
          <a:noFill/>
          <a:ln w="31750">
            <a:solidFill>
              <a:srgbClr val="5B6B82"/>
            </a:solidFill>
            <a:prstDash val="solid"/>
            <a:tailEnd type="triangle"/>
          </a:ln>
        </p:spPr>
      </p:sp>
      <p:sp>
        <p:nvSpPr>
          <p:cNvPr id="9" name="Shape 7"/>
          <p:cNvSpPr/>
          <p:nvPr/>
        </p:nvSpPr>
        <p:spPr>
          <a:xfrm>
            <a:off x="4297680" y="3017520"/>
            <a:ext cx="3474720" cy="1828800"/>
          </a:xfrm>
          <a:prstGeom prst="roundRect">
            <a:avLst>
              <a:gd name="adj" fmla="val 6000"/>
            </a:avLst>
          </a:prstGeom>
          <a:solidFill>
            <a:srgbClr val="0E8C84"/>
          </a:solidFill>
          <a:ln w="12700">
            <a:solidFill>
              <a:srgbClr val="0E8C84"/>
            </a:solidFill>
            <a:prstDash val="solid"/>
          </a:ln>
          <a:effectLst>
            <a:outerShdw sx="100000" sy="100000" kx="0" ky="0" algn="bl" rotWithShape="0" blurRad="76200" dist="25400" dir="5400000">
              <a:srgbClr val="000000">
                <a:alpha val="15000"/>
              </a:srgbClr>
            </a:outerShdw>
          </a:effectLst>
        </p:spPr>
      </p:sp>
      <p:sp>
        <p:nvSpPr>
          <p:cNvPr id="10" name="Text 8"/>
          <p:cNvSpPr txBox="1"/>
          <p:nvPr/>
        </p:nvSpPr>
        <p:spPr>
          <a:xfrm>
            <a:off x="4434840" y="3017520"/>
            <a:ext cx="3200400" cy="18288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  Augment</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Add that text to the question</a:t>
            </a:r>
            <a:endParaRPr lang="en-US" sz="1900" dirty="0"/>
          </a:p>
        </p:txBody>
      </p:sp>
      <p:sp>
        <p:nvSpPr>
          <p:cNvPr id="11" name="Shape 9"/>
          <p:cNvSpPr/>
          <p:nvPr/>
        </p:nvSpPr>
        <p:spPr>
          <a:xfrm>
            <a:off x="7818120" y="3931920"/>
            <a:ext cx="182880" cy="0"/>
          </a:xfrm>
          <a:prstGeom prst="line">
            <a:avLst/>
          </a:prstGeom>
          <a:noFill/>
          <a:ln w="31750">
            <a:solidFill>
              <a:srgbClr val="5B6B82"/>
            </a:solidFill>
            <a:prstDash val="solid"/>
            <a:tailEnd type="triangle"/>
          </a:ln>
        </p:spPr>
      </p:sp>
      <p:sp>
        <p:nvSpPr>
          <p:cNvPr id="12" name="Shape 10"/>
          <p:cNvSpPr/>
          <p:nvPr/>
        </p:nvSpPr>
        <p:spPr>
          <a:xfrm>
            <a:off x="8046720" y="3017520"/>
            <a:ext cx="3474720" cy="1828800"/>
          </a:xfrm>
          <a:prstGeom prst="roundRect">
            <a:avLst>
              <a:gd name="adj" fmla="val 6000"/>
            </a:avLst>
          </a:prstGeom>
          <a:solidFill>
            <a:srgbClr val="D9542F"/>
          </a:solidFill>
          <a:ln w="12700">
            <a:solidFill>
              <a:srgbClr val="D9542F"/>
            </a:solidFill>
            <a:prstDash val="solid"/>
          </a:ln>
          <a:effectLst>
            <a:outerShdw sx="100000" sy="100000" kx="0" ky="0" algn="bl" rotWithShape="0" blurRad="76200" dist="25400" dir="5400000">
              <a:srgbClr val="000000">
                <a:alpha val="15000"/>
              </a:srgbClr>
            </a:outerShdw>
          </a:effectLst>
        </p:spPr>
      </p:sp>
      <p:sp>
        <p:nvSpPr>
          <p:cNvPr id="13" name="Text 11"/>
          <p:cNvSpPr txBox="1"/>
          <p:nvPr/>
        </p:nvSpPr>
        <p:spPr>
          <a:xfrm>
            <a:off x="8183880" y="3017520"/>
            <a:ext cx="3200400" cy="18288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  Generate</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AI writes an answer from it</a:t>
            </a:r>
            <a:endParaRPr lang="en-US" sz="1900" dirty="0"/>
          </a:p>
        </p:txBody>
      </p:sp>
      <p:sp>
        <p:nvSpPr>
          <p:cNvPr id="14" name="Shape 12"/>
          <p:cNvSpPr/>
          <p:nvPr/>
        </p:nvSpPr>
        <p:spPr>
          <a:xfrm>
            <a:off x="548640" y="5212080"/>
            <a:ext cx="11064240" cy="914400"/>
          </a:xfrm>
          <a:prstGeom prst="roundRect">
            <a:avLst>
              <a:gd name="adj" fmla="val 12000"/>
            </a:avLst>
          </a:prstGeom>
          <a:solidFill>
            <a:srgbClr val="DDF2F0"/>
          </a:solidFill>
          <a:ln w="12700">
            <a:solidFill>
              <a:srgbClr val="DDF2F0"/>
            </a:solidFill>
            <a:prstDash val="solid"/>
          </a:ln>
          <a:effectLst>
            <a:outerShdw sx="100000" sy="100000" kx="0" ky="0" algn="bl" rotWithShape="0" blurRad="76200" dist="25400" dir="5400000">
              <a:srgbClr val="000000">
                <a:alpha val="15000"/>
              </a:srgbClr>
            </a:outerShdw>
          </a:effectLst>
        </p:spPr>
      </p:sp>
      <p:sp>
        <p:nvSpPr>
          <p:cNvPr id="15" name="Text 13"/>
          <p:cNvSpPr txBox="1"/>
          <p:nvPr/>
        </p:nvSpPr>
        <p:spPr>
          <a:xfrm>
            <a:off x="822960" y="5303520"/>
            <a:ext cx="10515600" cy="731520"/>
          </a:xfrm>
          <a:prstGeom prst="rect">
            <a:avLst/>
          </a:prstGeom>
          <a:noFill/>
          <a:ln/>
        </p:spPr>
        <p:txBody>
          <a:bodyPr wrap="square" lIns="0" tIns="0" rIns="0" bIns="0" rtlCol="0" anchor="ctr"/>
          <a:lstStyle/>
          <a:p>
            <a:pPr indent="0" marL="0">
              <a:buNone/>
            </a:pPr>
            <a:r>
              <a:rPr lang="en-US" sz="1800" b="1" dirty="0">
                <a:solidFill>
                  <a:srgbClr val="0E8C84"/>
                </a:solidFill>
                <a:latin typeface="Calibri" pitchFamily="34" charset="0"/>
                <a:ea typeface="Calibri" pitchFamily="34" charset="-122"/>
                <a:cs typeface="Calibri" pitchFamily="34" charset="-120"/>
              </a:rPr>
              <a:t>Open-book exam: </a:t>
            </a:r>
            <a:pPr indent="0" marL="0">
              <a:buNone/>
            </a:pPr>
            <a:r>
              <a:rPr lang="en-US" sz="1800" dirty="0">
                <a:solidFill>
                  <a:srgbClr val="1B2A41"/>
                </a:solidFill>
                <a:latin typeface="Calibri" pitchFamily="34" charset="0"/>
                <a:ea typeface="Calibri" pitchFamily="34" charset="-122"/>
                <a:cs typeface="Calibri" pitchFamily="34" charset="-120"/>
              </a:rPr>
              <a:t>the AI is allowed to look at the right pages before it answers.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CONCEPT 1, BENEFITS</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Why we use RAG</a:t>
            </a:r>
            <a:endParaRPr lang="en-US" sz="3600" dirty="0"/>
          </a:p>
        </p:txBody>
      </p:sp>
      <p:sp>
        <p:nvSpPr>
          <p:cNvPr id="4" name="Shape 2"/>
          <p:cNvSpPr/>
          <p:nvPr/>
        </p:nvSpPr>
        <p:spPr>
          <a:xfrm>
            <a:off x="548640" y="2057400"/>
            <a:ext cx="548640" cy="548640"/>
          </a:xfrm>
          <a:prstGeom prst="ellipse">
            <a:avLst/>
          </a:prstGeom>
          <a:solidFill>
            <a:srgbClr val="0E8C84"/>
          </a:solidFill>
          <a:ln w="12700">
            <a:solidFill>
              <a:srgbClr val="0E8C84"/>
            </a:solidFill>
            <a:prstDash val="solid"/>
          </a:ln>
        </p:spPr>
      </p:sp>
      <p:sp>
        <p:nvSpPr>
          <p:cNvPr id="5" name="Text 3"/>
          <p:cNvSpPr txBox="1"/>
          <p:nvPr/>
        </p:nvSpPr>
        <p:spPr>
          <a:xfrm>
            <a:off x="5486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371600" y="1920240"/>
            <a:ext cx="10058400" cy="45720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Uses our own documents</a:t>
            </a:r>
            <a:endParaRPr lang="en-US" sz="2400" dirty="0"/>
          </a:p>
        </p:txBody>
      </p:sp>
      <p:sp>
        <p:nvSpPr>
          <p:cNvPr id="7" name="Text 5"/>
          <p:cNvSpPr txBox="1"/>
          <p:nvPr/>
        </p:nvSpPr>
        <p:spPr>
          <a:xfrm>
            <a:off x="1371600" y="2377440"/>
            <a:ext cx="10058400" cy="548640"/>
          </a:xfrm>
          <a:prstGeom prst="rect">
            <a:avLst/>
          </a:prstGeom>
          <a:noFill/>
          <a:ln/>
        </p:spPr>
        <p:txBody>
          <a:bodyPr wrap="square" lIns="0" tIns="0" rIns="0" bIns="0" rtlCol="0" anchor="ctr"/>
          <a:lstStyle/>
          <a:p>
            <a:pPr indent="0" marL="0">
              <a:buNone/>
            </a:pPr>
            <a:r>
              <a:rPr lang="en-US" sz="1800" dirty="0">
                <a:solidFill>
                  <a:srgbClr val="5B6B82"/>
                </a:solidFill>
                <a:latin typeface="Calibri" pitchFamily="34" charset="0"/>
                <a:ea typeface="Calibri" pitchFamily="34" charset="-122"/>
                <a:cs typeface="Calibri" pitchFamily="34" charset="-120"/>
              </a:rPr>
              <a:t>The bot knows our leave, product, incident, and expense policies.</a:t>
            </a:r>
            <a:endParaRPr lang="en-US" sz="1800" dirty="0"/>
          </a:p>
        </p:txBody>
      </p:sp>
      <p:sp>
        <p:nvSpPr>
          <p:cNvPr id="8" name="Shape 6"/>
          <p:cNvSpPr/>
          <p:nvPr/>
        </p:nvSpPr>
        <p:spPr>
          <a:xfrm>
            <a:off x="548640" y="3429000"/>
            <a:ext cx="548640" cy="548640"/>
          </a:xfrm>
          <a:prstGeom prst="ellipse">
            <a:avLst/>
          </a:prstGeom>
          <a:solidFill>
            <a:srgbClr val="D9542F"/>
          </a:solidFill>
          <a:ln w="12700">
            <a:solidFill>
              <a:srgbClr val="D9542F"/>
            </a:solidFill>
            <a:prstDash val="solid"/>
          </a:ln>
        </p:spPr>
      </p:sp>
      <p:sp>
        <p:nvSpPr>
          <p:cNvPr id="9" name="Text 7"/>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371600" y="3291840"/>
            <a:ext cx="10058400" cy="45720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Shows its sources</a:t>
            </a:r>
            <a:endParaRPr lang="en-US" sz="2400" dirty="0"/>
          </a:p>
        </p:txBody>
      </p:sp>
      <p:sp>
        <p:nvSpPr>
          <p:cNvPr id="11" name="Text 9"/>
          <p:cNvSpPr txBox="1"/>
          <p:nvPr/>
        </p:nvSpPr>
        <p:spPr>
          <a:xfrm>
            <a:off x="1371600" y="3749040"/>
            <a:ext cx="10058400" cy="548640"/>
          </a:xfrm>
          <a:prstGeom prst="rect">
            <a:avLst/>
          </a:prstGeom>
          <a:noFill/>
          <a:ln/>
        </p:spPr>
        <p:txBody>
          <a:bodyPr wrap="square" lIns="0" tIns="0" rIns="0" bIns="0" rtlCol="0" anchor="ctr"/>
          <a:lstStyle/>
          <a:p>
            <a:pPr indent="0" marL="0">
              <a:buNone/>
            </a:pPr>
            <a:r>
              <a:rPr lang="en-US" sz="1800" dirty="0">
                <a:solidFill>
                  <a:srgbClr val="5B6B82"/>
                </a:solidFill>
                <a:latin typeface="Calibri" pitchFamily="34" charset="0"/>
                <a:ea typeface="Calibri" pitchFamily="34" charset="-122"/>
                <a:cs typeface="Calibri" pitchFamily="34" charset="-120"/>
              </a:rPr>
              <a:t>Every answer names the file it came from, so people can check it.</a:t>
            </a:r>
            <a:endParaRPr lang="en-US" sz="1800" dirty="0"/>
          </a:p>
        </p:txBody>
      </p:sp>
      <p:sp>
        <p:nvSpPr>
          <p:cNvPr id="12" name="Shape 10"/>
          <p:cNvSpPr/>
          <p:nvPr/>
        </p:nvSpPr>
        <p:spPr>
          <a:xfrm>
            <a:off x="548640" y="4800600"/>
            <a:ext cx="548640" cy="548640"/>
          </a:xfrm>
          <a:prstGeom prst="ellipse">
            <a:avLst/>
          </a:prstGeom>
          <a:solidFill>
            <a:srgbClr val="1B2A41"/>
          </a:solidFill>
          <a:ln w="12700">
            <a:solidFill>
              <a:srgbClr val="1B2A41"/>
            </a:solidFill>
            <a:prstDash val="solid"/>
          </a:ln>
        </p:spPr>
      </p:sp>
      <p:sp>
        <p:nvSpPr>
          <p:cNvPr id="13" name="Text 11"/>
          <p:cNvSpPr txBox="1"/>
          <p:nvPr/>
        </p:nvSpPr>
        <p:spPr>
          <a:xfrm>
            <a:off x="548640" y="4800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371600" y="4663440"/>
            <a:ext cx="10058400" cy="45720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Admits when it does not know</a:t>
            </a:r>
            <a:endParaRPr lang="en-US" sz="2400" dirty="0"/>
          </a:p>
        </p:txBody>
      </p:sp>
      <p:sp>
        <p:nvSpPr>
          <p:cNvPr id="15" name="Text 13"/>
          <p:cNvSpPr txBox="1"/>
          <p:nvPr/>
        </p:nvSpPr>
        <p:spPr>
          <a:xfrm>
            <a:off x="1371600" y="5120640"/>
            <a:ext cx="10058400" cy="548640"/>
          </a:xfrm>
          <a:prstGeom prst="rect">
            <a:avLst/>
          </a:prstGeom>
          <a:noFill/>
          <a:ln/>
        </p:spPr>
        <p:txBody>
          <a:bodyPr wrap="square" lIns="0" tIns="0" rIns="0" bIns="0" rtlCol="0" anchor="ctr"/>
          <a:lstStyle/>
          <a:p>
            <a:pPr indent="0" marL="0">
              <a:buNone/>
            </a:pPr>
            <a:r>
              <a:rPr lang="en-US" sz="1800" dirty="0">
                <a:solidFill>
                  <a:srgbClr val="5B6B82"/>
                </a:solidFill>
                <a:latin typeface="Calibri" pitchFamily="34" charset="0"/>
                <a:ea typeface="Calibri" pitchFamily="34" charset="-122"/>
                <a:cs typeface="Calibri" pitchFamily="34" charset="-120"/>
              </a:rPr>
              <a:t>If the answer is not in the documents, it says so instead of guessing.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CONCEPT 2</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What is chunking?</a:t>
            </a:r>
            <a:endParaRPr lang="en-US" sz="3600" dirty="0"/>
          </a:p>
        </p:txBody>
      </p:sp>
      <p:sp>
        <p:nvSpPr>
          <p:cNvPr id="4" name="Text 2"/>
          <p:cNvSpPr txBox="1"/>
          <p:nvPr/>
        </p:nvSpPr>
        <p:spPr>
          <a:xfrm>
            <a:off x="548640" y="1737360"/>
            <a:ext cx="10972800" cy="457200"/>
          </a:xfrm>
          <a:prstGeom prst="rect">
            <a:avLst/>
          </a:prstGeom>
          <a:noFill/>
          <a:ln/>
        </p:spPr>
        <p:txBody>
          <a:bodyPr wrap="square" lIns="0" tIns="0" rIns="0" bIns="0" rtlCol="0" anchor="ctr"/>
          <a:lstStyle/>
          <a:p>
            <a:pPr indent="0" marL="0">
              <a:buNone/>
            </a:pPr>
            <a:r>
              <a:rPr lang="en-US" sz="2000" dirty="0">
                <a:solidFill>
                  <a:srgbClr val="1B2A41"/>
                </a:solidFill>
                <a:latin typeface="Calibri" pitchFamily="34" charset="0"/>
                <a:ea typeface="Calibri" pitchFamily="34" charset="-122"/>
                <a:cs typeface="Calibri" pitchFamily="34" charset="-120"/>
              </a:rPr>
              <a:t>Chunking means cutting long documents into smaller pieces.</a:t>
            </a:r>
            <a:endParaRPr lang="en-US" sz="2000" dirty="0"/>
          </a:p>
        </p:txBody>
      </p:sp>
      <p:sp>
        <p:nvSpPr>
          <p:cNvPr id="5" name="Shape 3"/>
          <p:cNvSpPr/>
          <p:nvPr/>
        </p:nvSpPr>
        <p:spPr>
          <a:xfrm>
            <a:off x="548640" y="2651760"/>
            <a:ext cx="11064240" cy="731520"/>
          </a:xfrm>
          <a:prstGeom prst="rect">
            <a:avLst/>
          </a:prstGeom>
          <a:solidFill>
            <a:srgbClr val="C9D6E3"/>
          </a:solidFill>
          <a:ln w="12700">
            <a:solidFill>
              <a:srgbClr val="C9D6E3"/>
            </a:solidFill>
            <a:prstDash val="solid"/>
          </a:ln>
        </p:spPr>
      </p:sp>
      <p:sp>
        <p:nvSpPr>
          <p:cNvPr id="6" name="Text 4"/>
          <p:cNvSpPr txBox="1"/>
          <p:nvPr/>
        </p:nvSpPr>
        <p:spPr>
          <a:xfrm>
            <a:off x="731520" y="2651760"/>
            <a:ext cx="7315200" cy="731520"/>
          </a:xfrm>
          <a:prstGeom prst="rect">
            <a:avLst/>
          </a:prstGeom>
          <a:noFill/>
          <a:ln/>
        </p:spPr>
        <p:txBody>
          <a:bodyPr wrap="square" lIns="0" tIns="0" rIns="0" bIns="0" rtlCol="0" anchor="ctr"/>
          <a:lstStyle/>
          <a:p>
            <a:pPr indent="0" marL="0">
              <a:buNone/>
            </a:pPr>
            <a:r>
              <a:rPr lang="en-US" sz="1600" dirty="0">
                <a:solidFill>
                  <a:srgbClr val="1B2A41"/>
                </a:solidFill>
                <a:latin typeface="Calibri" pitchFamily="34" charset="0"/>
                <a:ea typeface="Calibri" pitchFamily="34" charset="-122"/>
                <a:cs typeface="Calibri" pitchFamily="34" charset="-120"/>
              </a:rPr>
              <a:t>Long policy document (many pages)</a:t>
            </a:r>
            <a:endParaRPr lang="en-US" sz="1600" dirty="0"/>
          </a:p>
        </p:txBody>
      </p:sp>
      <p:sp>
        <p:nvSpPr>
          <p:cNvPr id="7" name="Text 5"/>
          <p:cNvSpPr txBox="1"/>
          <p:nvPr/>
        </p:nvSpPr>
        <p:spPr>
          <a:xfrm>
            <a:off x="4754880" y="3474720"/>
            <a:ext cx="2743200" cy="365760"/>
          </a:xfrm>
          <a:prstGeom prst="rect">
            <a:avLst/>
          </a:prstGeom>
          <a:noFill/>
          <a:ln/>
        </p:spPr>
        <p:txBody>
          <a:bodyPr wrap="square" lIns="0" tIns="0" rIns="0" bIns="0" rtlCol="0" anchor="ctr"/>
          <a:lstStyle/>
          <a:p>
            <a:pPr algn="ctr" indent="0" marL="0">
              <a:buNone/>
            </a:pPr>
            <a:r>
              <a:rPr lang="en-US" sz="1400" i="1" dirty="0">
                <a:solidFill>
                  <a:srgbClr val="5B6B82"/>
                </a:solidFill>
                <a:latin typeface="Calibri" pitchFamily="34" charset="0"/>
                <a:ea typeface="Calibri" pitchFamily="34" charset="-122"/>
                <a:cs typeface="Calibri" pitchFamily="34" charset="-120"/>
              </a:rPr>
              <a:t>cut into pieces</a:t>
            </a:r>
            <a:endParaRPr lang="en-US" sz="1400" dirty="0"/>
          </a:p>
        </p:txBody>
      </p:sp>
      <p:sp>
        <p:nvSpPr>
          <p:cNvPr id="8" name="Shape 6"/>
          <p:cNvSpPr/>
          <p:nvPr/>
        </p:nvSpPr>
        <p:spPr>
          <a:xfrm>
            <a:off x="548640" y="4023360"/>
            <a:ext cx="2560320" cy="1188720"/>
          </a:xfrm>
          <a:prstGeom prst="roundRect">
            <a:avLst>
              <a:gd name="adj" fmla="val 9231"/>
            </a:avLst>
          </a:prstGeom>
          <a:solidFill>
            <a:srgbClr val="0E8C84"/>
          </a:solidFill>
          <a:ln w="12700">
            <a:solidFill>
              <a:srgbClr val="0E8C84"/>
            </a:solidFill>
            <a:prstDash val="solid"/>
          </a:ln>
          <a:effectLst>
            <a:outerShdw sx="100000" sy="100000" kx="0" ky="0" algn="bl" rotWithShape="0" blurRad="76200" dist="25400" dir="5400000">
              <a:srgbClr val="000000">
                <a:alpha val="15000"/>
              </a:srgbClr>
            </a:outerShdw>
          </a:effectLst>
        </p:spPr>
      </p:sp>
      <p:sp>
        <p:nvSpPr>
          <p:cNvPr id="9" name="Text 7"/>
          <p:cNvSpPr txBox="1"/>
          <p:nvPr/>
        </p:nvSpPr>
        <p:spPr>
          <a:xfrm>
            <a:off x="685800" y="4023360"/>
            <a:ext cx="2286000" cy="118872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Annual leave</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chunk 1</a:t>
            </a:r>
            <a:endParaRPr lang="en-US" sz="1900" dirty="0"/>
          </a:p>
        </p:txBody>
      </p:sp>
      <p:sp>
        <p:nvSpPr>
          <p:cNvPr id="10" name="Shape 8"/>
          <p:cNvSpPr/>
          <p:nvPr/>
        </p:nvSpPr>
        <p:spPr>
          <a:xfrm>
            <a:off x="3383280" y="4023360"/>
            <a:ext cx="2560320" cy="1188720"/>
          </a:xfrm>
          <a:prstGeom prst="roundRect">
            <a:avLst>
              <a:gd name="adj" fmla="val 9231"/>
            </a:avLst>
          </a:prstGeom>
          <a:solidFill>
            <a:srgbClr val="D9542F"/>
          </a:solidFill>
          <a:ln w="12700">
            <a:solidFill>
              <a:srgbClr val="D9542F"/>
            </a:solidFill>
            <a:prstDash val="solid"/>
          </a:ln>
          <a:effectLst>
            <a:outerShdw sx="100000" sy="100000" kx="0" ky="0" algn="bl" rotWithShape="0" blurRad="76200" dist="25400" dir="5400000">
              <a:srgbClr val="000000">
                <a:alpha val="15000"/>
              </a:srgbClr>
            </a:outerShdw>
          </a:effectLst>
        </p:spPr>
      </p:sp>
      <p:sp>
        <p:nvSpPr>
          <p:cNvPr id="11" name="Text 9"/>
          <p:cNvSpPr txBox="1"/>
          <p:nvPr/>
        </p:nvSpPr>
        <p:spPr>
          <a:xfrm>
            <a:off x="3520440" y="4023360"/>
            <a:ext cx="2286000" cy="118872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Sick leave</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chunk 2</a:t>
            </a:r>
            <a:endParaRPr lang="en-US" sz="1900" dirty="0"/>
          </a:p>
        </p:txBody>
      </p:sp>
      <p:sp>
        <p:nvSpPr>
          <p:cNvPr id="12" name="Shape 10"/>
          <p:cNvSpPr/>
          <p:nvPr/>
        </p:nvSpPr>
        <p:spPr>
          <a:xfrm>
            <a:off x="6217920" y="4023360"/>
            <a:ext cx="2560320" cy="1188720"/>
          </a:xfrm>
          <a:prstGeom prst="roundRect">
            <a:avLst>
              <a:gd name="adj" fmla="val 9231"/>
            </a:avLst>
          </a:prstGeom>
          <a:solidFill>
            <a:srgbClr val="0E8C84"/>
          </a:solidFill>
          <a:ln w="12700">
            <a:solidFill>
              <a:srgbClr val="0E8C84"/>
            </a:solidFill>
            <a:prstDash val="solid"/>
          </a:ln>
          <a:effectLst>
            <a:outerShdw sx="100000" sy="100000" kx="0" ky="0" algn="bl" rotWithShape="0" blurRad="76200" dist="25400" dir="5400000">
              <a:srgbClr val="000000">
                <a:alpha val="15000"/>
              </a:srgbClr>
            </a:outerShdw>
          </a:effectLst>
        </p:spPr>
      </p:sp>
      <p:sp>
        <p:nvSpPr>
          <p:cNvPr id="13" name="Text 11"/>
          <p:cNvSpPr txBox="1"/>
          <p:nvPr/>
        </p:nvSpPr>
        <p:spPr>
          <a:xfrm>
            <a:off x="6355080" y="4023360"/>
            <a:ext cx="2286000" cy="118872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Parental leave</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chunk 3</a:t>
            </a:r>
            <a:endParaRPr lang="en-US" sz="1900" dirty="0"/>
          </a:p>
        </p:txBody>
      </p:sp>
      <p:sp>
        <p:nvSpPr>
          <p:cNvPr id="14" name="Shape 12"/>
          <p:cNvSpPr/>
          <p:nvPr/>
        </p:nvSpPr>
        <p:spPr>
          <a:xfrm>
            <a:off x="9052560" y="4023360"/>
            <a:ext cx="2560320" cy="1188720"/>
          </a:xfrm>
          <a:prstGeom prst="roundRect">
            <a:avLst>
              <a:gd name="adj" fmla="val 9231"/>
            </a:avLst>
          </a:prstGeom>
          <a:solidFill>
            <a:srgbClr val="1B2A41"/>
          </a:solidFill>
          <a:ln w="12700">
            <a:solidFill>
              <a:srgbClr val="1B2A41"/>
            </a:solidFill>
            <a:prstDash val="solid"/>
          </a:ln>
          <a:effectLst>
            <a:outerShdw sx="100000" sy="100000" kx="0" ky="0" algn="bl" rotWithShape="0" blurRad="76200" dist="25400" dir="5400000">
              <a:srgbClr val="000000">
                <a:alpha val="15000"/>
              </a:srgbClr>
            </a:outerShdw>
          </a:effectLst>
        </p:spPr>
      </p:sp>
      <p:sp>
        <p:nvSpPr>
          <p:cNvPr id="15" name="Text 13"/>
          <p:cNvSpPr txBox="1"/>
          <p:nvPr/>
        </p:nvSpPr>
        <p:spPr>
          <a:xfrm>
            <a:off x="9189720" y="4023360"/>
            <a:ext cx="2286000" cy="118872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Holidays</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chunk 4</a:t>
            </a:r>
            <a:endParaRPr lang="en-US" sz="1900" dirty="0"/>
          </a:p>
        </p:txBody>
      </p:sp>
      <p:sp>
        <p:nvSpPr>
          <p:cNvPr id="16" name="Text 14"/>
          <p:cNvSpPr txBox="1"/>
          <p:nvPr/>
        </p:nvSpPr>
        <p:spPr>
          <a:xfrm>
            <a:off x="548640" y="5577840"/>
            <a:ext cx="10972800" cy="548640"/>
          </a:xfrm>
          <a:prstGeom prst="rect">
            <a:avLst/>
          </a:prstGeom>
          <a:noFill/>
          <a:ln/>
        </p:spPr>
        <p:txBody>
          <a:bodyPr wrap="square" lIns="0" tIns="0" rIns="0" bIns="0" rtlCol="0" anchor="ctr"/>
          <a:lstStyle/>
          <a:p>
            <a:pPr indent="0" marL="0">
              <a:buNone/>
            </a:pPr>
            <a:r>
              <a:rPr lang="en-US" sz="1800" i="1" dirty="0">
                <a:solidFill>
                  <a:srgbClr val="5B6B82"/>
                </a:solidFill>
                <a:latin typeface="Calibri" pitchFamily="34" charset="0"/>
                <a:ea typeface="Calibri" pitchFamily="34" charset="-122"/>
                <a:cs typeface="Calibri" pitchFamily="34" charset="-120"/>
              </a:rPr>
              <a:t>Like cutting a long textbook into index cards, so the right card is easy to find.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CONCEPT 2, SIZE</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Why the size of each chunk matters</a:t>
            </a:r>
            <a:endParaRPr lang="en-US" sz="3600" dirty="0"/>
          </a:p>
        </p:txBody>
      </p:sp>
      <p:sp>
        <p:nvSpPr>
          <p:cNvPr id="4" name="Shape 2"/>
          <p:cNvSpPr/>
          <p:nvPr/>
        </p:nvSpPr>
        <p:spPr>
          <a:xfrm>
            <a:off x="548640" y="1828800"/>
            <a:ext cx="3566160" cy="4114800"/>
          </a:xfrm>
          <a:prstGeom prst="roundRect">
            <a:avLst>
              <a:gd name="adj" fmla="val 3077"/>
            </a:avLst>
          </a:prstGeom>
          <a:solidFill>
            <a:srgbClr val="FBE6DF"/>
          </a:solidFill>
          <a:ln w="12700">
            <a:solidFill>
              <a:srgbClr val="FBE6DF"/>
            </a:solidFill>
            <a:prstDash val="solid"/>
          </a:ln>
          <a:effectLst>
            <a:outerShdw sx="100000" sy="100000" kx="0" ky="0" algn="bl" rotWithShape="0" blurRad="76200" dist="25400" dir="5400000">
              <a:srgbClr val="000000">
                <a:alpha val="15000"/>
              </a:srgbClr>
            </a:outerShdw>
          </a:effectLst>
        </p:spPr>
      </p:sp>
      <p:sp>
        <p:nvSpPr>
          <p:cNvPr id="5" name="Text 3"/>
          <p:cNvSpPr txBox="1"/>
          <p:nvPr/>
        </p:nvSpPr>
        <p:spPr>
          <a:xfrm>
            <a:off x="822960" y="2057400"/>
            <a:ext cx="3108960" cy="548640"/>
          </a:xfrm>
          <a:prstGeom prst="rect">
            <a:avLst/>
          </a:prstGeom>
          <a:noFill/>
          <a:ln/>
        </p:spPr>
        <p:txBody>
          <a:bodyPr wrap="square" lIns="0" tIns="0" rIns="0" bIns="0" rtlCol="0" anchor="ctr"/>
          <a:lstStyle/>
          <a:p>
            <a:pPr indent="0" marL="0">
              <a:buNone/>
            </a:pPr>
            <a:r>
              <a:rPr lang="en-US" sz="2600" b="1" dirty="0">
                <a:solidFill>
                  <a:srgbClr val="D9542F"/>
                </a:solidFill>
                <a:latin typeface="Cambria" pitchFamily="34" charset="0"/>
                <a:ea typeface="Cambria" pitchFamily="34" charset="-122"/>
                <a:cs typeface="Cambria" pitchFamily="34" charset="-120"/>
              </a:rPr>
              <a:t>Too small</a:t>
            </a:r>
            <a:endParaRPr lang="en-US" sz="2600" dirty="0"/>
          </a:p>
        </p:txBody>
      </p:sp>
      <p:sp>
        <p:nvSpPr>
          <p:cNvPr id="6" name="Text 4"/>
          <p:cNvSpPr txBox="1"/>
          <p:nvPr/>
        </p:nvSpPr>
        <p:spPr>
          <a:xfrm>
            <a:off x="822960" y="2743200"/>
            <a:ext cx="3108960" cy="914400"/>
          </a:xfrm>
          <a:prstGeom prst="rect">
            <a:avLst/>
          </a:prstGeom>
          <a:noFill/>
          <a:ln/>
        </p:spPr>
        <p:txBody>
          <a:bodyPr wrap="square" lIns="0" tIns="0" rIns="0" bIns="0" rtlCol="0" anchor="t"/>
          <a:lstStyle/>
          <a:p>
            <a:pPr indent="0" marL="0">
              <a:buNone/>
            </a:pPr>
            <a:r>
              <a:rPr lang="en-US" sz="1800" b="1" dirty="0">
                <a:solidFill>
                  <a:srgbClr val="1B2A41"/>
                </a:solidFill>
                <a:latin typeface="Calibri" pitchFamily="34" charset="0"/>
                <a:ea typeface="Calibri" pitchFamily="34" charset="-122"/>
                <a:cs typeface="Calibri" pitchFamily="34" charset="-120"/>
              </a:rPr>
              <a:t>Pieces lose their meaning</a:t>
            </a:r>
            <a:endParaRPr lang="en-US" sz="1800" dirty="0"/>
          </a:p>
        </p:txBody>
      </p:sp>
      <p:sp>
        <p:nvSpPr>
          <p:cNvPr id="7" name="Text 5"/>
          <p:cNvSpPr txBox="1"/>
          <p:nvPr/>
        </p:nvSpPr>
        <p:spPr>
          <a:xfrm>
            <a:off x="822960" y="3840480"/>
            <a:ext cx="3108960" cy="1280160"/>
          </a:xfrm>
          <a:prstGeom prst="rect">
            <a:avLst/>
          </a:prstGeom>
          <a:noFill/>
          <a:ln/>
        </p:spPr>
        <p:txBody>
          <a:bodyPr wrap="square" lIns="0" tIns="0" rIns="0" bIns="0" rtlCol="0" anchor="t"/>
          <a:lstStyle/>
          <a:p>
            <a:pPr indent="0" marL="0">
              <a:buNone/>
            </a:pPr>
            <a:r>
              <a:rPr lang="en-US" sz="1600" dirty="0">
                <a:solidFill>
                  <a:srgbClr val="5B6B82"/>
                </a:solidFill>
                <a:latin typeface="Calibri" pitchFamily="34" charset="0"/>
                <a:ea typeface="Calibri" pitchFamily="34" charset="-122"/>
                <a:cs typeface="Calibri" pitchFamily="34" charset="-120"/>
              </a:rPr>
              <a:t>e.g. "24 days" without saying what it is for</a:t>
            </a:r>
            <a:endParaRPr lang="en-US" sz="1600" dirty="0"/>
          </a:p>
        </p:txBody>
      </p:sp>
      <p:sp>
        <p:nvSpPr>
          <p:cNvPr id="8" name="Shape 6"/>
          <p:cNvSpPr/>
          <p:nvPr/>
        </p:nvSpPr>
        <p:spPr>
          <a:xfrm>
            <a:off x="4297680" y="1828800"/>
            <a:ext cx="3566160" cy="4114800"/>
          </a:xfrm>
          <a:prstGeom prst="roundRect">
            <a:avLst>
              <a:gd name="adj" fmla="val 3077"/>
            </a:avLst>
          </a:prstGeom>
          <a:solidFill>
            <a:srgbClr val="DDF2F0"/>
          </a:solidFill>
          <a:ln w="12700">
            <a:solidFill>
              <a:srgbClr val="DDF2F0"/>
            </a:solidFill>
            <a:prstDash val="solid"/>
          </a:ln>
          <a:effectLst>
            <a:outerShdw sx="100000" sy="100000" kx="0" ky="0" algn="bl" rotWithShape="0" blurRad="76200" dist="25400" dir="5400000">
              <a:srgbClr val="000000">
                <a:alpha val="15000"/>
              </a:srgbClr>
            </a:outerShdw>
          </a:effectLst>
        </p:spPr>
      </p:sp>
      <p:sp>
        <p:nvSpPr>
          <p:cNvPr id="9" name="Text 7"/>
          <p:cNvSpPr txBox="1"/>
          <p:nvPr/>
        </p:nvSpPr>
        <p:spPr>
          <a:xfrm>
            <a:off x="4572000" y="2057400"/>
            <a:ext cx="3108960" cy="548640"/>
          </a:xfrm>
          <a:prstGeom prst="rect">
            <a:avLst/>
          </a:prstGeom>
          <a:noFill/>
          <a:ln/>
        </p:spPr>
        <p:txBody>
          <a:bodyPr wrap="square" lIns="0" tIns="0" rIns="0" bIns="0" rtlCol="0" anchor="ctr"/>
          <a:lstStyle/>
          <a:p>
            <a:pPr indent="0" marL="0">
              <a:buNone/>
            </a:pPr>
            <a:r>
              <a:rPr lang="en-US" sz="2600" b="1" dirty="0">
                <a:solidFill>
                  <a:srgbClr val="0E8C84"/>
                </a:solidFill>
                <a:latin typeface="Cambria" pitchFamily="34" charset="0"/>
                <a:ea typeface="Cambria" pitchFamily="34" charset="-122"/>
                <a:cs typeface="Cambria" pitchFamily="34" charset="-120"/>
              </a:rPr>
              <a:t>Just right</a:t>
            </a:r>
            <a:endParaRPr lang="en-US" sz="2600" dirty="0"/>
          </a:p>
        </p:txBody>
      </p:sp>
      <p:sp>
        <p:nvSpPr>
          <p:cNvPr id="10" name="Text 8"/>
          <p:cNvSpPr txBox="1"/>
          <p:nvPr/>
        </p:nvSpPr>
        <p:spPr>
          <a:xfrm>
            <a:off x="4572000" y="2743200"/>
            <a:ext cx="3108960" cy="914400"/>
          </a:xfrm>
          <a:prstGeom prst="rect">
            <a:avLst/>
          </a:prstGeom>
          <a:noFill/>
          <a:ln/>
        </p:spPr>
        <p:txBody>
          <a:bodyPr wrap="square" lIns="0" tIns="0" rIns="0" bIns="0" rtlCol="0" anchor="t"/>
          <a:lstStyle/>
          <a:p>
            <a:pPr indent="0" marL="0">
              <a:buNone/>
            </a:pPr>
            <a:r>
              <a:rPr lang="en-US" sz="1800" b="1" dirty="0">
                <a:solidFill>
                  <a:srgbClr val="1B2A41"/>
                </a:solidFill>
                <a:latin typeface="Calibri" pitchFamily="34" charset="0"/>
                <a:ea typeface="Calibri" pitchFamily="34" charset="-122"/>
                <a:cs typeface="Calibri" pitchFamily="34" charset="-120"/>
              </a:rPr>
              <a:t>Each piece is one complete idea</a:t>
            </a:r>
            <a:endParaRPr lang="en-US" sz="1800" dirty="0"/>
          </a:p>
        </p:txBody>
      </p:sp>
      <p:sp>
        <p:nvSpPr>
          <p:cNvPr id="11" name="Text 9"/>
          <p:cNvSpPr txBox="1"/>
          <p:nvPr/>
        </p:nvSpPr>
        <p:spPr>
          <a:xfrm>
            <a:off x="4572000" y="3840480"/>
            <a:ext cx="3108960" cy="1280160"/>
          </a:xfrm>
          <a:prstGeom prst="rect">
            <a:avLst/>
          </a:prstGeom>
          <a:noFill/>
          <a:ln/>
        </p:spPr>
        <p:txBody>
          <a:bodyPr wrap="square" lIns="0" tIns="0" rIns="0" bIns="0" rtlCol="0" anchor="t"/>
          <a:lstStyle/>
          <a:p>
            <a:pPr indent="0" marL="0">
              <a:buNone/>
            </a:pPr>
            <a:r>
              <a:rPr lang="en-US" sz="1600" dirty="0">
                <a:solidFill>
                  <a:srgbClr val="5B6B82"/>
                </a:solidFill>
                <a:latin typeface="Calibri" pitchFamily="34" charset="0"/>
                <a:ea typeface="Calibri" pitchFamily="34" charset="-122"/>
                <a:cs typeface="Calibri" pitchFamily="34" charset="-120"/>
              </a:rPr>
              <a:t>e.g. the whole annual leave section</a:t>
            </a:r>
            <a:endParaRPr lang="en-US" sz="1600" dirty="0"/>
          </a:p>
        </p:txBody>
      </p:sp>
      <p:sp>
        <p:nvSpPr>
          <p:cNvPr id="12" name="Shape 10"/>
          <p:cNvSpPr/>
          <p:nvPr/>
        </p:nvSpPr>
        <p:spPr>
          <a:xfrm>
            <a:off x="8046720" y="1828800"/>
            <a:ext cx="3566160" cy="4114800"/>
          </a:xfrm>
          <a:prstGeom prst="roundRect">
            <a:avLst>
              <a:gd name="adj" fmla="val 3077"/>
            </a:avLst>
          </a:prstGeom>
          <a:solidFill>
            <a:srgbClr val="FBE6DF"/>
          </a:solidFill>
          <a:ln w="12700">
            <a:solidFill>
              <a:srgbClr val="FBE6DF"/>
            </a:solidFill>
            <a:prstDash val="solid"/>
          </a:ln>
          <a:effectLst>
            <a:outerShdw sx="100000" sy="100000" kx="0" ky="0" algn="bl" rotWithShape="0" blurRad="76200" dist="25400" dir="5400000">
              <a:srgbClr val="000000">
                <a:alpha val="15000"/>
              </a:srgbClr>
            </a:outerShdw>
          </a:effectLst>
        </p:spPr>
      </p:sp>
      <p:sp>
        <p:nvSpPr>
          <p:cNvPr id="13" name="Text 11"/>
          <p:cNvSpPr txBox="1"/>
          <p:nvPr/>
        </p:nvSpPr>
        <p:spPr>
          <a:xfrm>
            <a:off x="8321040" y="2057400"/>
            <a:ext cx="3108960" cy="548640"/>
          </a:xfrm>
          <a:prstGeom prst="rect">
            <a:avLst/>
          </a:prstGeom>
          <a:noFill/>
          <a:ln/>
        </p:spPr>
        <p:txBody>
          <a:bodyPr wrap="square" lIns="0" tIns="0" rIns="0" bIns="0" rtlCol="0" anchor="ctr"/>
          <a:lstStyle/>
          <a:p>
            <a:pPr indent="0" marL="0">
              <a:buNone/>
            </a:pPr>
            <a:r>
              <a:rPr lang="en-US" sz="2600" b="1" dirty="0">
                <a:solidFill>
                  <a:srgbClr val="D9542F"/>
                </a:solidFill>
                <a:latin typeface="Cambria" pitchFamily="34" charset="0"/>
                <a:ea typeface="Cambria" pitchFamily="34" charset="-122"/>
                <a:cs typeface="Cambria" pitchFamily="34" charset="-120"/>
              </a:rPr>
              <a:t>Too big</a:t>
            </a:r>
            <a:endParaRPr lang="en-US" sz="2600" dirty="0"/>
          </a:p>
        </p:txBody>
      </p:sp>
      <p:sp>
        <p:nvSpPr>
          <p:cNvPr id="14" name="Text 12"/>
          <p:cNvSpPr txBox="1"/>
          <p:nvPr/>
        </p:nvSpPr>
        <p:spPr>
          <a:xfrm>
            <a:off x="8321040" y="2743200"/>
            <a:ext cx="3108960" cy="914400"/>
          </a:xfrm>
          <a:prstGeom prst="rect">
            <a:avLst/>
          </a:prstGeom>
          <a:noFill/>
          <a:ln/>
        </p:spPr>
        <p:txBody>
          <a:bodyPr wrap="square" lIns="0" tIns="0" rIns="0" bIns="0" rtlCol="0" anchor="t"/>
          <a:lstStyle/>
          <a:p>
            <a:pPr indent="0" marL="0">
              <a:buNone/>
            </a:pPr>
            <a:r>
              <a:rPr lang="en-US" sz="1800" b="1" dirty="0">
                <a:solidFill>
                  <a:srgbClr val="1B2A41"/>
                </a:solidFill>
                <a:latin typeface="Calibri" pitchFamily="34" charset="0"/>
                <a:ea typeface="Calibri" pitchFamily="34" charset="-122"/>
                <a:cs typeface="Calibri" pitchFamily="34" charset="-120"/>
              </a:rPr>
              <a:t>Many topics mixed together</a:t>
            </a:r>
            <a:endParaRPr lang="en-US" sz="1800" dirty="0"/>
          </a:p>
        </p:txBody>
      </p:sp>
      <p:sp>
        <p:nvSpPr>
          <p:cNvPr id="15" name="Text 13"/>
          <p:cNvSpPr txBox="1"/>
          <p:nvPr/>
        </p:nvSpPr>
        <p:spPr>
          <a:xfrm>
            <a:off x="8321040" y="3840480"/>
            <a:ext cx="3108960" cy="1280160"/>
          </a:xfrm>
          <a:prstGeom prst="rect">
            <a:avLst/>
          </a:prstGeom>
          <a:noFill/>
          <a:ln/>
        </p:spPr>
        <p:txBody>
          <a:bodyPr wrap="square" lIns="0" tIns="0" rIns="0" bIns="0" rtlCol="0" anchor="t"/>
          <a:lstStyle/>
          <a:p>
            <a:pPr indent="0" marL="0">
              <a:buNone/>
            </a:pPr>
            <a:r>
              <a:rPr lang="en-US" sz="1600" dirty="0">
                <a:solidFill>
                  <a:srgbClr val="5B6B82"/>
                </a:solidFill>
                <a:latin typeface="Calibri" pitchFamily="34" charset="0"/>
                <a:ea typeface="Calibri" pitchFamily="34" charset="-122"/>
                <a:cs typeface="Calibri" pitchFamily="34" charset="-120"/>
              </a:rPr>
              <a:t>e.g. leave, expenses, and holidays in one piece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OUR SETTINGS</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How our project chunks documents</a:t>
            </a:r>
            <a:endParaRPr lang="en-US" sz="3600" dirty="0"/>
          </a:p>
        </p:txBody>
      </p:sp>
      <p:sp>
        <p:nvSpPr>
          <p:cNvPr id="4" name="Text 2"/>
          <p:cNvSpPr txBox="1"/>
          <p:nvPr/>
        </p:nvSpPr>
        <p:spPr>
          <a:xfrm>
            <a:off x="548640" y="1737360"/>
            <a:ext cx="10972800" cy="457200"/>
          </a:xfrm>
          <a:prstGeom prst="rect">
            <a:avLst/>
          </a:prstGeom>
          <a:noFill/>
          <a:ln/>
        </p:spPr>
        <p:txBody>
          <a:bodyPr wrap="square" lIns="0" tIns="0" rIns="0" bIns="0" rtlCol="0" anchor="ctr"/>
          <a:lstStyle/>
          <a:p>
            <a:pPr indent="0" marL="0">
              <a:buNone/>
            </a:pPr>
            <a:r>
              <a:rPr lang="en-US" sz="2000" dirty="0">
                <a:solidFill>
                  <a:srgbClr val="1B2A41"/>
                </a:solidFill>
                <a:latin typeface="Calibri" pitchFamily="34" charset="0"/>
                <a:ea typeface="Calibri" pitchFamily="34" charset="-122"/>
                <a:cs typeface="Calibri" pitchFamily="34" charset="-120"/>
              </a:rPr>
              <a:t>800 characters per chunk, with 150 characters repeated from the previous chunk.</a:t>
            </a:r>
            <a:endParaRPr lang="en-US" sz="2000" dirty="0"/>
          </a:p>
        </p:txBody>
      </p:sp>
      <p:sp>
        <p:nvSpPr>
          <p:cNvPr id="5" name="Shape 3"/>
          <p:cNvSpPr/>
          <p:nvPr/>
        </p:nvSpPr>
        <p:spPr>
          <a:xfrm>
            <a:off x="731520" y="2651760"/>
            <a:ext cx="3840480" cy="548640"/>
          </a:xfrm>
          <a:prstGeom prst="rect">
            <a:avLst/>
          </a:prstGeom>
          <a:solidFill>
            <a:srgbClr val="0E8C84"/>
          </a:solidFill>
          <a:ln w="12700">
            <a:solidFill>
              <a:srgbClr val="0E8C84"/>
            </a:solidFill>
            <a:prstDash val="solid"/>
          </a:ln>
        </p:spPr>
      </p:sp>
      <p:sp>
        <p:nvSpPr>
          <p:cNvPr id="6" name="Text 4"/>
          <p:cNvSpPr txBox="1"/>
          <p:nvPr/>
        </p:nvSpPr>
        <p:spPr>
          <a:xfrm>
            <a:off x="868680" y="2651760"/>
            <a:ext cx="22860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Chunk 1</a:t>
            </a:r>
            <a:endParaRPr lang="en-US" sz="1500" dirty="0"/>
          </a:p>
        </p:txBody>
      </p:sp>
      <p:sp>
        <p:nvSpPr>
          <p:cNvPr id="7" name="Shape 5"/>
          <p:cNvSpPr/>
          <p:nvPr/>
        </p:nvSpPr>
        <p:spPr>
          <a:xfrm>
            <a:off x="3749040" y="3383280"/>
            <a:ext cx="3840480" cy="548640"/>
          </a:xfrm>
          <a:prstGeom prst="rect">
            <a:avLst/>
          </a:prstGeom>
          <a:solidFill>
            <a:srgbClr val="0E8C84"/>
          </a:solidFill>
          <a:ln w="12700">
            <a:solidFill>
              <a:srgbClr val="0E8C84"/>
            </a:solidFill>
            <a:prstDash val="solid"/>
          </a:ln>
        </p:spPr>
      </p:sp>
      <p:sp>
        <p:nvSpPr>
          <p:cNvPr id="8" name="Text 6"/>
          <p:cNvSpPr txBox="1"/>
          <p:nvPr/>
        </p:nvSpPr>
        <p:spPr>
          <a:xfrm>
            <a:off x="3886200" y="3383280"/>
            <a:ext cx="22860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Chunk 2</a:t>
            </a:r>
            <a:endParaRPr lang="en-US" sz="1500" dirty="0"/>
          </a:p>
        </p:txBody>
      </p:sp>
      <p:sp>
        <p:nvSpPr>
          <p:cNvPr id="9" name="Shape 7"/>
          <p:cNvSpPr/>
          <p:nvPr/>
        </p:nvSpPr>
        <p:spPr>
          <a:xfrm>
            <a:off x="3749040" y="2651760"/>
            <a:ext cx="822960" cy="731520"/>
          </a:xfrm>
          <a:prstGeom prst="rect">
            <a:avLst/>
          </a:prstGeom>
          <a:solidFill>
            <a:srgbClr val="D9542F">
              <a:alpha val="70000"/>
            </a:srgbClr>
          </a:solidFill>
          <a:ln w="12700">
            <a:solidFill>
              <a:srgbClr val="D9542F">
                <a:alpha val="70000"/>
              </a:srgbClr>
            </a:solidFill>
            <a:prstDash val="solid"/>
          </a:ln>
        </p:spPr>
      </p:sp>
      <p:sp>
        <p:nvSpPr>
          <p:cNvPr id="10" name="Shape 8"/>
          <p:cNvSpPr/>
          <p:nvPr/>
        </p:nvSpPr>
        <p:spPr>
          <a:xfrm>
            <a:off x="6766560" y="4114800"/>
            <a:ext cx="3840480" cy="548640"/>
          </a:xfrm>
          <a:prstGeom prst="rect">
            <a:avLst/>
          </a:prstGeom>
          <a:solidFill>
            <a:srgbClr val="0E8C84"/>
          </a:solidFill>
          <a:ln w="12700">
            <a:solidFill>
              <a:srgbClr val="0E8C84"/>
            </a:solidFill>
            <a:prstDash val="solid"/>
          </a:ln>
        </p:spPr>
      </p:sp>
      <p:sp>
        <p:nvSpPr>
          <p:cNvPr id="11" name="Text 9"/>
          <p:cNvSpPr txBox="1"/>
          <p:nvPr/>
        </p:nvSpPr>
        <p:spPr>
          <a:xfrm>
            <a:off x="6903720" y="4114800"/>
            <a:ext cx="22860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Chunk 3</a:t>
            </a:r>
            <a:endParaRPr lang="en-US" sz="1500" dirty="0"/>
          </a:p>
        </p:txBody>
      </p:sp>
      <p:sp>
        <p:nvSpPr>
          <p:cNvPr id="12" name="Shape 10"/>
          <p:cNvSpPr/>
          <p:nvPr/>
        </p:nvSpPr>
        <p:spPr>
          <a:xfrm>
            <a:off x="6766560" y="3383280"/>
            <a:ext cx="822960" cy="731520"/>
          </a:xfrm>
          <a:prstGeom prst="rect">
            <a:avLst/>
          </a:prstGeom>
          <a:solidFill>
            <a:srgbClr val="D9542F">
              <a:alpha val="70000"/>
            </a:srgbClr>
          </a:solidFill>
          <a:ln w="12700">
            <a:solidFill>
              <a:srgbClr val="D9542F">
                <a:alpha val="70000"/>
              </a:srgbClr>
            </a:solidFill>
            <a:prstDash val="solid"/>
          </a:ln>
        </p:spPr>
      </p:sp>
      <p:sp>
        <p:nvSpPr>
          <p:cNvPr id="13" name="Text 11"/>
          <p:cNvSpPr txBox="1"/>
          <p:nvPr/>
        </p:nvSpPr>
        <p:spPr>
          <a:xfrm>
            <a:off x="731520" y="4983480"/>
            <a:ext cx="4572000" cy="365760"/>
          </a:xfrm>
          <a:prstGeom prst="rect">
            <a:avLst/>
          </a:prstGeom>
          <a:noFill/>
          <a:ln/>
        </p:spPr>
        <p:txBody>
          <a:bodyPr wrap="square" lIns="0" tIns="0" rIns="0" bIns="0" rtlCol="0" anchor="ctr"/>
          <a:lstStyle/>
          <a:p>
            <a:pPr indent="0" marL="0">
              <a:buNone/>
            </a:pPr>
            <a:r>
              <a:rPr lang="en-US" sz="1500" i="1" dirty="0">
                <a:solidFill>
                  <a:srgbClr val="D9542F"/>
                </a:solidFill>
                <a:latin typeface="Calibri" pitchFamily="34" charset="0"/>
                <a:ea typeface="Calibri" pitchFamily="34" charset="-122"/>
                <a:cs typeface="Calibri" pitchFamily="34" charset="-120"/>
              </a:rPr>
              <a:t>Coral = repeated text</a:t>
            </a:r>
            <a:endParaRPr lang="en-US" sz="1500" dirty="0"/>
          </a:p>
        </p:txBody>
      </p:sp>
      <p:sp>
        <p:nvSpPr>
          <p:cNvPr id="14" name="Text 12"/>
          <p:cNvSpPr txBox="1"/>
          <p:nvPr/>
        </p:nvSpPr>
        <p:spPr>
          <a:xfrm>
            <a:off x="731520" y="5440680"/>
            <a:ext cx="10789920" cy="10972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B2A41"/>
                </a:solidFill>
                <a:latin typeface="Calibri" pitchFamily="34" charset="0"/>
                <a:ea typeface="Calibri" pitchFamily="34" charset="-122"/>
                <a:cs typeface="Calibri" pitchFamily="34" charset="-120"/>
              </a:rPr>
              <a:t>Repeating some text stops a sentence from being cut off without its context</a:t>
            </a:r>
            <a:endParaRPr lang="en-US" sz="1700" dirty="0"/>
          </a:p>
          <a:p>
            <a:pPr marL="342900" indent="-342900">
              <a:spcAft>
                <a:spcPts val="1200"/>
              </a:spcAft>
              <a:buSzPct val="100000"/>
              <a:buChar char="•"/>
            </a:pPr>
            <a:r>
              <a:rPr lang="en-US" sz="1700" dirty="0">
                <a:solidFill>
                  <a:srgbClr val="1B2A41"/>
                </a:solidFill>
                <a:latin typeface="Calibri" pitchFamily="34" charset="0"/>
                <a:ea typeface="Calibri" pitchFamily="34" charset="-122"/>
                <a:cs typeface="Calibri" pitchFamily="34" charset="-120"/>
              </a:rPr>
              <a:t>Headings stay with their paragraphs, so each chunk knows its topic</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EXAMPLE</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A real chunk from our leave policy</a:t>
            </a:r>
            <a:endParaRPr lang="en-US" sz="3600" dirty="0"/>
          </a:p>
        </p:txBody>
      </p:sp>
      <p:sp>
        <p:nvSpPr>
          <p:cNvPr id="4" name="Shape 2"/>
          <p:cNvSpPr/>
          <p:nvPr/>
        </p:nvSpPr>
        <p:spPr>
          <a:xfrm>
            <a:off x="548640" y="1828800"/>
            <a:ext cx="6766560" cy="4206240"/>
          </a:xfrm>
          <a:prstGeom prst="roundRect">
            <a:avLst>
              <a:gd name="adj" fmla="val 2609"/>
            </a:avLst>
          </a:prstGeom>
          <a:solidFill>
            <a:srgbClr val="1B2A41"/>
          </a:solidFill>
          <a:ln w="12700">
            <a:solidFill>
              <a:srgbClr val="1B2A41"/>
            </a:solidFill>
            <a:prstDash val="solid"/>
          </a:ln>
          <a:effectLst>
            <a:outerShdw sx="100000" sy="100000" kx="0" ky="0" algn="bl" rotWithShape="0" blurRad="76200" dist="25400" dir="5400000">
              <a:srgbClr val="000000">
                <a:alpha val="15000"/>
              </a:srgbClr>
            </a:outerShdw>
          </a:effectLst>
        </p:spPr>
      </p:sp>
      <p:sp>
        <p:nvSpPr>
          <p:cNvPr id="5" name="Text 3"/>
          <p:cNvSpPr txBox="1"/>
          <p:nvPr/>
        </p:nvSpPr>
        <p:spPr>
          <a:xfrm>
            <a:off x="868680" y="2148840"/>
            <a:ext cx="6126480" cy="3657600"/>
          </a:xfrm>
          <a:prstGeom prst="rect">
            <a:avLst/>
          </a:prstGeom>
          <a:noFill/>
          <a:ln/>
        </p:spPr>
        <p:txBody>
          <a:bodyPr wrap="square" lIns="0" tIns="0" rIns="0" bIns="0" rtlCol="0" anchor="t"/>
          <a:lstStyle/>
          <a:p>
            <a:pPr indent="0" marL="0">
              <a:buNone/>
            </a:pPr>
            <a:r>
              <a:rPr lang="en-US" sz="1400" dirty="0">
                <a:solidFill>
                  <a:srgbClr val="C9D6E3"/>
                </a:solidFill>
                <a:latin typeface="Courier New" pitchFamily="34" charset="0"/>
                <a:ea typeface="Courier New" pitchFamily="34" charset="-122"/>
                <a:cs typeface="Courier New" pitchFamily="34" charset="-120"/>
              </a:rPr>
              <a:t>Source: hr_leave_policy.md</a:t>
            </a:r>
            <a:endParaRPr lang="en-US" sz="1700" dirty="0"/>
          </a:p>
          <a:p>
            <a:pPr indent="0" marL="0">
              <a:buNone/>
            </a:pPr>
            <a:r>
              <a:rPr lang="en-US" sz="1000" dirty="0">
                <a:solidFill>
                  <a:srgbClr val="FFFFFF"/>
                </a:solidFill>
                <a:latin typeface="Courier New" pitchFamily="34" charset="0"/>
                <a:ea typeface="Courier New" pitchFamily="34" charset="-122"/>
                <a:cs typeface="Courier New" pitchFamily="34" charset="-120"/>
              </a:rPr>
              <a:t> </a:t>
            </a:r>
            <a:endParaRPr lang="en-US" sz="1700" dirty="0"/>
          </a:p>
          <a:p>
            <a:pPr indent="0" marL="0">
              <a:buNone/>
            </a:pPr>
            <a:r>
              <a:rPr lang="en-US" sz="1700" b="1" dirty="0">
                <a:solidFill>
                  <a:srgbClr val="FFFFFF"/>
                </a:solidFill>
                <a:latin typeface="Courier New" pitchFamily="34" charset="0"/>
                <a:ea typeface="Courier New" pitchFamily="34" charset="-122"/>
                <a:cs typeface="Courier New" pitchFamily="34" charset="-120"/>
              </a:rPr>
              <a:t>Annual Leave</a:t>
            </a:r>
            <a:endParaRPr lang="en-US" sz="1700" dirty="0"/>
          </a:p>
          <a:p>
            <a:pPr indent="0" marL="0">
              <a:buNone/>
            </a:pPr>
            <a:r>
              <a:rPr lang="en-US" sz="1700" dirty="0">
                <a:solidFill>
                  <a:srgbClr val="FFFFFF"/>
                </a:solidFill>
                <a:latin typeface="Courier New" pitchFamily="34" charset="0"/>
                <a:ea typeface="Courier New" pitchFamily="34" charset="-122"/>
                <a:cs typeface="Courier New" pitchFamily="34" charset="-120"/>
              </a:rPr>
              <a:t>All full-time employees receive 24 days of paid annual leave per calendar year. Leave accrues monthly at 2 days per month. Unused leave up to 5 days may be carried over to the next year. Any balance beyond 5 days expires on March 31.</a:t>
            </a:r>
            <a:endParaRPr lang="en-US" sz="1700" dirty="0"/>
          </a:p>
        </p:txBody>
      </p:sp>
      <p:sp>
        <p:nvSpPr>
          <p:cNvPr id="6" name="Text 4"/>
          <p:cNvSpPr txBox="1"/>
          <p:nvPr/>
        </p:nvSpPr>
        <p:spPr>
          <a:xfrm>
            <a:off x="7680960" y="2011680"/>
            <a:ext cx="3931920" cy="38404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B2A41"/>
                </a:solidFill>
                <a:latin typeface="Calibri" pitchFamily="34" charset="0"/>
                <a:ea typeface="Calibri" pitchFamily="34" charset="-122"/>
                <a:cs typeface="Calibri" pitchFamily="34" charset="-120"/>
              </a:rPr>
              <a:t>The heading and its text stay together</a:t>
            </a:r>
            <a:endParaRPr lang="en-US" sz="1800" dirty="0"/>
          </a:p>
          <a:p>
            <a:pPr marL="342900" indent="-342900">
              <a:spcAft>
                <a:spcPts val="1200"/>
              </a:spcAft>
              <a:buSzPct val="100000"/>
              <a:buChar char="•"/>
            </a:pPr>
            <a:r>
              <a:rPr lang="en-US" sz="1800" dirty="0">
                <a:solidFill>
                  <a:srgbClr val="1B2A41"/>
                </a:solidFill>
                <a:latin typeface="Calibri" pitchFamily="34" charset="0"/>
                <a:ea typeface="Calibri" pitchFamily="34" charset="-122"/>
                <a:cs typeface="Calibri" pitchFamily="34" charset="-120"/>
              </a:rPr>
              <a:t>All the numbers are in one piece, so the answer is complete</a:t>
            </a:r>
            <a:endParaRPr lang="en-US" sz="1800" dirty="0"/>
          </a:p>
          <a:p>
            <a:pPr marL="342900" indent="-342900">
              <a:spcAft>
                <a:spcPts val="1200"/>
              </a:spcAft>
              <a:buSzPct val="100000"/>
              <a:buChar char="•"/>
            </a:pPr>
            <a:r>
              <a:rPr lang="en-US" sz="1800" dirty="0">
                <a:solidFill>
                  <a:srgbClr val="1B2A41"/>
                </a:solidFill>
                <a:latin typeface="Calibri" pitchFamily="34" charset="0"/>
                <a:ea typeface="Calibri" pitchFamily="34" charset="-122"/>
                <a:cs typeface="Calibri" pitchFamily="34" charset="-120"/>
              </a:rPr>
              <a:t>Each chunk gets a stable ID, so re-running the job does not duplicate it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EXAMPLE</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Putting it together: one question</a:t>
            </a:r>
            <a:endParaRPr lang="en-US" sz="3600" dirty="0"/>
          </a:p>
        </p:txBody>
      </p:sp>
      <p:sp>
        <p:nvSpPr>
          <p:cNvPr id="4" name="Shape 2"/>
          <p:cNvSpPr/>
          <p:nvPr/>
        </p:nvSpPr>
        <p:spPr>
          <a:xfrm>
            <a:off x="548640" y="1828800"/>
            <a:ext cx="11064240" cy="1005840"/>
          </a:xfrm>
          <a:prstGeom prst="roundRect">
            <a:avLst>
              <a:gd name="adj" fmla="val 10909"/>
            </a:avLst>
          </a:prstGeom>
          <a:solidFill>
            <a:srgbClr val="C9D6E3"/>
          </a:solidFill>
          <a:ln w="12700">
            <a:solidFill>
              <a:srgbClr val="C9D6E3"/>
            </a:solidFill>
            <a:prstDash val="solid"/>
          </a:ln>
          <a:effectLst>
            <a:outerShdw sx="100000" sy="100000" kx="0" ky="0" algn="bl" rotWithShape="0" blurRad="76200" dist="25400" dir="5400000">
              <a:srgbClr val="000000">
                <a:alpha val="15000"/>
              </a:srgbClr>
            </a:outerShdw>
          </a:effectLst>
        </p:spPr>
      </p:sp>
      <p:sp>
        <p:nvSpPr>
          <p:cNvPr id="5" name="Text 3"/>
          <p:cNvSpPr txBox="1"/>
          <p:nvPr/>
        </p:nvSpPr>
        <p:spPr>
          <a:xfrm>
            <a:off x="822960" y="1828800"/>
            <a:ext cx="10515600" cy="1005840"/>
          </a:xfrm>
          <a:prstGeom prst="rect">
            <a:avLst/>
          </a:prstGeom>
          <a:noFill/>
          <a:ln/>
        </p:spPr>
        <p:txBody>
          <a:bodyPr wrap="square" lIns="0" tIns="0" rIns="0" bIns="0" rtlCol="0" anchor="ctr"/>
          <a:lstStyle/>
          <a:p>
            <a:pPr indent="0" marL="0">
              <a:buNone/>
            </a:pPr>
            <a:r>
              <a:rPr lang="en-US" sz="2400" i="1" dirty="0">
                <a:solidFill>
                  <a:srgbClr val="1B2A41"/>
                </a:solidFill>
                <a:latin typeface="Cambria" pitchFamily="34" charset="0"/>
                <a:ea typeface="Cambria" pitchFamily="34" charset="-122"/>
                <a:cs typeface="Cambria" pitchFamily="34" charset="-120"/>
              </a:rPr>
              <a:t>"How many days of annual leave do I get?"</a:t>
            </a:r>
            <a:endParaRPr lang="en-US" sz="2400" dirty="0"/>
          </a:p>
        </p:txBody>
      </p:sp>
      <p:sp>
        <p:nvSpPr>
          <p:cNvPr id="6" name="Shape 4"/>
          <p:cNvSpPr/>
          <p:nvPr/>
        </p:nvSpPr>
        <p:spPr>
          <a:xfrm>
            <a:off x="548640" y="3291840"/>
            <a:ext cx="3474720" cy="2011680"/>
          </a:xfrm>
          <a:prstGeom prst="roundRect">
            <a:avLst>
              <a:gd name="adj" fmla="val 5455"/>
            </a:avLst>
          </a:prstGeom>
          <a:solidFill>
            <a:srgbClr val="0E8C84"/>
          </a:solidFill>
          <a:ln w="12700">
            <a:solidFill>
              <a:srgbClr val="0E8C84"/>
            </a:solidFill>
            <a:prstDash val="solid"/>
          </a:ln>
          <a:effectLst>
            <a:outerShdw sx="100000" sy="100000" kx="0" ky="0" algn="bl" rotWithShape="0" blurRad="76200" dist="25400" dir="5400000">
              <a:srgbClr val="000000">
                <a:alpha val="15000"/>
              </a:srgbClr>
            </a:outerShdw>
          </a:effectLst>
        </p:spPr>
      </p:sp>
      <p:sp>
        <p:nvSpPr>
          <p:cNvPr id="7" name="Text 5"/>
          <p:cNvSpPr txBox="1"/>
          <p:nvPr/>
        </p:nvSpPr>
        <p:spPr>
          <a:xfrm>
            <a:off x="685800" y="3291840"/>
            <a:ext cx="3200400" cy="2011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Find</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The bot matches the question to the Annual Leave chunk</a:t>
            </a:r>
            <a:endParaRPr lang="en-US" sz="1900" dirty="0"/>
          </a:p>
        </p:txBody>
      </p:sp>
      <p:sp>
        <p:nvSpPr>
          <p:cNvPr id="8" name="Shape 6"/>
          <p:cNvSpPr/>
          <p:nvPr/>
        </p:nvSpPr>
        <p:spPr>
          <a:xfrm>
            <a:off x="4069080" y="4297680"/>
            <a:ext cx="182880" cy="0"/>
          </a:xfrm>
          <a:prstGeom prst="line">
            <a:avLst/>
          </a:prstGeom>
          <a:noFill/>
          <a:ln w="31750">
            <a:solidFill>
              <a:srgbClr val="5B6B82"/>
            </a:solidFill>
            <a:prstDash val="solid"/>
            <a:tailEnd type="triangle"/>
          </a:ln>
        </p:spPr>
      </p:sp>
      <p:sp>
        <p:nvSpPr>
          <p:cNvPr id="9" name="Shape 7"/>
          <p:cNvSpPr/>
          <p:nvPr/>
        </p:nvSpPr>
        <p:spPr>
          <a:xfrm>
            <a:off x="4297680" y="3291840"/>
            <a:ext cx="3474720" cy="2011680"/>
          </a:xfrm>
          <a:prstGeom prst="roundRect">
            <a:avLst>
              <a:gd name="adj" fmla="val 5455"/>
            </a:avLst>
          </a:prstGeom>
          <a:solidFill>
            <a:srgbClr val="0E8C84"/>
          </a:solidFill>
          <a:ln w="12700">
            <a:solidFill>
              <a:srgbClr val="0E8C84"/>
            </a:solidFill>
            <a:prstDash val="solid"/>
          </a:ln>
          <a:effectLst>
            <a:outerShdw sx="100000" sy="100000" kx="0" ky="0" algn="bl" rotWithShape="0" blurRad="76200" dist="25400" dir="5400000">
              <a:srgbClr val="000000">
                <a:alpha val="15000"/>
              </a:srgbClr>
            </a:outerShdw>
          </a:effectLst>
        </p:spPr>
      </p:sp>
      <p:sp>
        <p:nvSpPr>
          <p:cNvPr id="10" name="Text 8"/>
          <p:cNvSpPr txBox="1"/>
          <p:nvPr/>
        </p:nvSpPr>
        <p:spPr>
          <a:xfrm>
            <a:off x="4434840" y="3291840"/>
            <a:ext cx="3200400" cy="2011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Add</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That chunk is added to the prompt</a:t>
            </a:r>
            <a:endParaRPr lang="en-US" sz="1900" dirty="0"/>
          </a:p>
        </p:txBody>
      </p:sp>
      <p:sp>
        <p:nvSpPr>
          <p:cNvPr id="11" name="Shape 9"/>
          <p:cNvSpPr/>
          <p:nvPr/>
        </p:nvSpPr>
        <p:spPr>
          <a:xfrm>
            <a:off x="7818120" y="4297680"/>
            <a:ext cx="182880" cy="0"/>
          </a:xfrm>
          <a:prstGeom prst="line">
            <a:avLst/>
          </a:prstGeom>
          <a:noFill/>
          <a:ln w="31750">
            <a:solidFill>
              <a:srgbClr val="5B6B82"/>
            </a:solidFill>
            <a:prstDash val="solid"/>
            <a:tailEnd type="triangle"/>
          </a:ln>
        </p:spPr>
      </p:sp>
      <p:sp>
        <p:nvSpPr>
          <p:cNvPr id="12" name="Shape 10"/>
          <p:cNvSpPr/>
          <p:nvPr/>
        </p:nvSpPr>
        <p:spPr>
          <a:xfrm>
            <a:off x="8046720" y="3291840"/>
            <a:ext cx="3474720" cy="2011680"/>
          </a:xfrm>
          <a:prstGeom prst="roundRect">
            <a:avLst>
              <a:gd name="adj" fmla="val 5455"/>
            </a:avLst>
          </a:prstGeom>
          <a:solidFill>
            <a:srgbClr val="D9542F"/>
          </a:solidFill>
          <a:ln w="12700">
            <a:solidFill>
              <a:srgbClr val="D9542F"/>
            </a:solidFill>
            <a:prstDash val="solid"/>
          </a:ln>
          <a:effectLst>
            <a:outerShdw sx="100000" sy="100000" kx="0" ky="0" algn="bl" rotWithShape="0" blurRad="76200" dist="25400" dir="5400000">
              <a:srgbClr val="000000">
                <a:alpha val="15000"/>
              </a:srgbClr>
            </a:outerShdw>
          </a:effectLst>
        </p:spPr>
      </p:sp>
      <p:sp>
        <p:nvSpPr>
          <p:cNvPr id="13" name="Text 11"/>
          <p:cNvSpPr txBox="1"/>
          <p:nvPr/>
        </p:nvSpPr>
        <p:spPr>
          <a:xfrm>
            <a:off x="8183880" y="3291840"/>
            <a:ext cx="3200400" cy="2011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Answer</a:t>
            </a:r>
            <a:endParaRPr lang="en-US" sz="1900" dirty="0"/>
          </a:p>
          <a:p>
            <a:pPr algn="ctr" indent="0" marL="0">
              <a:buNone/>
            </a:pPr>
            <a:r>
              <a:rPr lang="en-US" sz="1400" dirty="0">
                <a:solidFill>
                  <a:srgbClr val="FFFFFF"/>
                </a:solidFill>
                <a:latin typeface="Calibri" pitchFamily="34" charset="0"/>
                <a:ea typeface="Calibri" pitchFamily="34" charset="-122"/>
                <a:cs typeface="Calibri" pitchFamily="34" charset="-120"/>
              </a:rPr>
              <a:t>"24 days of paid annual leave [hr_leave_policy.md]"</a:t>
            </a:r>
            <a:endParaRPr lang="en-US" sz="1900" dirty="0"/>
          </a:p>
        </p:txBody>
      </p:sp>
      <p:sp>
        <p:nvSpPr>
          <p:cNvPr id="14" name="Text 12"/>
          <p:cNvSpPr txBox="1"/>
          <p:nvPr/>
        </p:nvSpPr>
        <p:spPr>
          <a:xfrm>
            <a:off x="548640" y="5669280"/>
            <a:ext cx="10972800" cy="457200"/>
          </a:xfrm>
          <a:prstGeom prst="rect">
            <a:avLst/>
          </a:prstGeom>
          <a:noFill/>
          <a:ln/>
        </p:spPr>
        <p:txBody>
          <a:bodyPr wrap="square" lIns="0" tIns="0" rIns="0" bIns="0" rtlCol="0" anchor="ctr"/>
          <a:lstStyle/>
          <a:p>
            <a:pPr indent="0" marL="0">
              <a:buNone/>
            </a:pPr>
            <a:r>
              <a:rPr lang="en-US" sz="1800" i="1" dirty="0">
                <a:solidFill>
                  <a:srgbClr val="5B6B82"/>
                </a:solidFill>
                <a:latin typeface="Calibri" pitchFamily="34" charset="0"/>
                <a:ea typeface="Calibri" pitchFamily="34" charset="-122"/>
                <a:cs typeface="Calibri" pitchFamily="34" charset="-120"/>
              </a:rPr>
              <a:t>Result: the employee gets the number and the file to check.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DATABRICKS ARCHITECTURE</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The Databricks pieces we use</a:t>
            </a:r>
            <a:endParaRPr lang="en-US" sz="3600" dirty="0"/>
          </a:p>
        </p:txBody>
      </p:sp>
      <p:sp>
        <p:nvSpPr>
          <p:cNvPr id="4" name="Shape 2"/>
          <p:cNvSpPr/>
          <p:nvPr/>
        </p:nvSpPr>
        <p:spPr>
          <a:xfrm>
            <a:off x="548640" y="1828800"/>
            <a:ext cx="2103120" cy="4114800"/>
          </a:xfrm>
          <a:prstGeom prst="roundRect">
            <a:avLst>
              <a:gd name="adj" fmla="val 5217"/>
            </a:avLst>
          </a:prstGeom>
          <a:solidFill>
            <a:srgbClr val="F3F7F9"/>
          </a:solidFill>
          <a:ln w="12700">
            <a:solidFill>
              <a:srgbClr val="F3F7F9"/>
            </a:solidFill>
            <a:prstDash val="solid"/>
          </a:ln>
          <a:effectLst>
            <a:outerShdw sx="100000" sy="100000" kx="0" ky="0" algn="bl" rotWithShape="0" blurRad="76200" dist="25400" dir="5400000">
              <a:srgbClr val="000000">
                <a:alpha val="15000"/>
              </a:srgbClr>
            </a:outerShdw>
          </a:effectLst>
        </p:spPr>
      </p:sp>
      <p:pic>
        <p:nvPicPr>
          <p:cNvPr id="5" name="Image 0" descr="icons/lakehouse-storage.png">    </p:cNvPr>
          <p:cNvPicPr>
            <a:picLocks noChangeAspect="1"/>
          </p:cNvPicPr>
          <p:nvPr/>
        </p:nvPicPr>
        <p:blipFill>
          <a:blip r:embed="rId1"/>
          <a:stretch>
            <a:fillRect/>
          </a:stretch>
        </p:blipFill>
        <p:spPr>
          <a:xfrm>
            <a:off x="1143000" y="2103120"/>
            <a:ext cx="914400" cy="914400"/>
          </a:xfrm>
          <a:prstGeom prst="rect">
            <a:avLst/>
          </a:prstGeom>
        </p:spPr>
      </p:pic>
      <p:sp>
        <p:nvSpPr>
          <p:cNvPr id="6" name="Text 3"/>
          <p:cNvSpPr txBox="1"/>
          <p:nvPr/>
        </p:nvSpPr>
        <p:spPr>
          <a:xfrm>
            <a:off x="685800" y="3291840"/>
            <a:ext cx="1828800" cy="640080"/>
          </a:xfrm>
          <a:prstGeom prst="rect">
            <a:avLst/>
          </a:prstGeom>
          <a:noFill/>
          <a:ln/>
        </p:spPr>
        <p:txBody>
          <a:bodyPr wrap="square" lIns="0" tIns="0" rIns="0" bIns="0" rtlCol="0" anchor="ctr"/>
          <a:lstStyle/>
          <a:p>
            <a:pPr algn="ctr" indent="0" marL="0">
              <a:buNone/>
            </a:pPr>
            <a:r>
              <a:rPr lang="en-US" sz="1800" b="1" dirty="0">
                <a:solidFill>
                  <a:srgbClr val="1B2A41"/>
                </a:solidFill>
                <a:latin typeface="Cambria" pitchFamily="34" charset="0"/>
                <a:ea typeface="Cambria" pitchFamily="34" charset="-122"/>
                <a:cs typeface="Cambria" pitchFamily="34" charset="-120"/>
              </a:rPr>
              <a:t>Volume</a:t>
            </a:r>
            <a:endParaRPr lang="en-US" sz="1800" dirty="0"/>
          </a:p>
        </p:txBody>
      </p:sp>
      <p:sp>
        <p:nvSpPr>
          <p:cNvPr id="7" name="Text 4"/>
          <p:cNvSpPr txBox="1"/>
          <p:nvPr/>
        </p:nvSpPr>
        <p:spPr>
          <a:xfrm>
            <a:off x="731520" y="4023360"/>
            <a:ext cx="1737360" cy="1737360"/>
          </a:xfrm>
          <a:prstGeom prst="rect">
            <a:avLst/>
          </a:prstGeom>
          <a:noFill/>
          <a:ln/>
        </p:spPr>
        <p:txBody>
          <a:bodyPr wrap="square" lIns="0" tIns="0" rIns="0" bIns="0" rtlCol="0" anchor="t"/>
          <a:lstStyle/>
          <a:p>
            <a:pPr algn="ctr" indent="0" marL="0">
              <a:buNone/>
            </a:pPr>
            <a:r>
              <a:rPr lang="en-US" sz="1400" dirty="0">
                <a:solidFill>
                  <a:srgbClr val="5B6B82"/>
                </a:solidFill>
                <a:latin typeface="Calibri" pitchFamily="34" charset="0"/>
                <a:ea typeface="Calibri" pitchFamily="34" charset="-122"/>
                <a:cs typeface="Calibri" pitchFamily="34" charset="-120"/>
              </a:rPr>
              <a:t>Stores our source documents (Unity Catalog)</a:t>
            </a:r>
            <a:endParaRPr lang="en-US" sz="1400" dirty="0"/>
          </a:p>
        </p:txBody>
      </p:sp>
      <p:sp>
        <p:nvSpPr>
          <p:cNvPr id="8" name="Shape 5"/>
          <p:cNvSpPr/>
          <p:nvPr/>
        </p:nvSpPr>
        <p:spPr>
          <a:xfrm>
            <a:off x="2834640" y="1828800"/>
            <a:ext cx="2103120" cy="4114800"/>
          </a:xfrm>
          <a:prstGeom prst="roundRect">
            <a:avLst>
              <a:gd name="adj" fmla="val 5217"/>
            </a:avLst>
          </a:prstGeom>
          <a:solidFill>
            <a:srgbClr val="F3F7F9"/>
          </a:solidFill>
          <a:ln w="12700">
            <a:solidFill>
              <a:srgbClr val="F3F7F9"/>
            </a:solidFill>
            <a:prstDash val="solid"/>
          </a:ln>
          <a:effectLst>
            <a:outerShdw sx="100000" sy="100000" kx="0" ky="0" algn="bl" rotWithShape="0" blurRad="76200" dist="25400" dir="5400000">
              <a:srgbClr val="000000">
                <a:alpha val="15000"/>
              </a:srgbClr>
            </a:outerShdw>
          </a:effectLst>
        </p:spPr>
      </p:sp>
      <p:pic>
        <p:nvPicPr>
          <p:cNvPr id="9" name="Image 1" descr="icons/ai-search.png">    </p:cNvPr>
          <p:cNvPicPr>
            <a:picLocks noChangeAspect="1"/>
          </p:cNvPicPr>
          <p:nvPr/>
        </p:nvPicPr>
        <p:blipFill>
          <a:blip r:embed="rId2"/>
          <a:stretch>
            <a:fillRect/>
          </a:stretch>
        </p:blipFill>
        <p:spPr>
          <a:xfrm>
            <a:off x="3429000" y="2103120"/>
            <a:ext cx="914400" cy="914400"/>
          </a:xfrm>
          <a:prstGeom prst="rect">
            <a:avLst/>
          </a:prstGeom>
        </p:spPr>
      </p:pic>
      <p:sp>
        <p:nvSpPr>
          <p:cNvPr id="10" name="Text 6"/>
          <p:cNvSpPr txBox="1"/>
          <p:nvPr/>
        </p:nvSpPr>
        <p:spPr>
          <a:xfrm>
            <a:off x="2971800" y="3291840"/>
            <a:ext cx="1828800" cy="640080"/>
          </a:xfrm>
          <a:prstGeom prst="rect">
            <a:avLst/>
          </a:prstGeom>
          <a:noFill/>
          <a:ln/>
        </p:spPr>
        <p:txBody>
          <a:bodyPr wrap="square" lIns="0" tIns="0" rIns="0" bIns="0" rtlCol="0" anchor="ctr"/>
          <a:lstStyle/>
          <a:p>
            <a:pPr algn="ctr" indent="0" marL="0">
              <a:buNone/>
            </a:pPr>
            <a:r>
              <a:rPr lang="en-US" sz="1800" b="1" dirty="0">
                <a:solidFill>
                  <a:srgbClr val="1B2A41"/>
                </a:solidFill>
                <a:latin typeface="Cambria" pitchFamily="34" charset="0"/>
                <a:ea typeface="Cambria" pitchFamily="34" charset="-122"/>
                <a:cs typeface="Cambria" pitchFamily="34" charset="-120"/>
              </a:rPr>
              <a:t>Vector Search</a:t>
            </a:r>
            <a:endParaRPr lang="en-US" sz="1800" dirty="0"/>
          </a:p>
        </p:txBody>
      </p:sp>
      <p:sp>
        <p:nvSpPr>
          <p:cNvPr id="11" name="Text 7"/>
          <p:cNvSpPr txBox="1"/>
          <p:nvPr/>
        </p:nvSpPr>
        <p:spPr>
          <a:xfrm>
            <a:off x="3017520" y="4023360"/>
            <a:ext cx="1737360" cy="1737360"/>
          </a:xfrm>
          <a:prstGeom prst="rect">
            <a:avLst/>
          </a:prstGeom>
          <a:noFill/>
          <a:ln/>
        </p:spPr>
        <p:txBody>
          <a:bodyPr wrap="square" lIns="0" tIns="0" rIns="0" bIns="0" rtlCol="0" anchor="t"/>
          <a:lstStyle/>
          <a:p>
            <a:pPr algn="ctr" indent="0" marL="0">
              <a:buNone/>
            </a:pPr>
            <a:r>
              <a:rPr lang="en-US" sz="1400" dirty="0">
                <a:solidFill>
                  <a:srgbClr val="5B6B82"/>
                </a:solidFill>
                <a:latin typeface="Calibri" pitchFamily="34" charset="0"/>
                <a:ea typeface="Calibri" pitchFamily="34" charset="-122"/>
                <a:cs typeface="Calibri" pitchFamily="34" charset="-120"/>
              </a:rPr>
              <a:t>Finds the chunks closest to a question</a:t>
            </a:r>
            <a:endParaRPr lang="en-US" sz="1400" dirty="0"/>
          </a:p>
        </p:txBody>
      </p:sp>
      <p:sp>
        <p:nvSpPr>
          <p:cNvPr id="12" name="Shape 8"/>
          <p:cNvSpPr/>
          <p:nvPr/>
        </p:nvSpPr>
        <p:spPr>
          <a:xfrm>
            <a:off x="5120640" y="1828800"/>
            <a:ext cx="2103120" cy="4114800"/>
          </a:xfrm>
          <a:prstGeom prst="roundRect">
            <a:avLst>
              <a:gd name="adj" fmla="val 5217"/>
            </a:avLst>
          </a:prstGeom>
          <a:solidFill>
            <a:srgbClr val="F3F7F9"/>
          </a:solidFill>
          <a:ln w="12700">
            <a:solidFill>
              <a:srgbClr val="F3F7F9"/>
            </a:solidFill>
            <a:prstDash val="solid"/>
          </a:ln>
          <a:effectLst>
            <a:outerShdw sx="100000" sy="100000" kx="0" ky="0" algn="bl" rotWithShape="0" blurRad="76200" dist="25400" dir="5400000">
              <a:srgbClr val="000000">
                <a:alpha val="15000"/>
              </a:srgbClr>
            </a:outerShdw>
          </a:effectLst>
        </p:spPr>
      </p:sp>
      <p:pic>
        <p:nvPicPr>
          <p:cNvPr id="13" name="Image 2" descr="icons/model-serving.png">    </p:cNvPr>
          <p:cNvPicPr>
            <a:picLocks noChangeAspect="1"/>
          </p:cNvPicPr>
          <p:nvPr/>
        </p:nvPicPr>
        <p:blipFill>
          <a:blip r:embed="rId3"/>
          <a:stretch>
            <a:fillRect/>
          </a:stretch>
        </p:blipFill>
        <p:spPr>
          <a:xfrm>
            <a:off x="5715000" y="2103120"/>
            <a:ext cx="914400" cy="914400"/>
          </a:xfrm>
          <a:prstGeom prst="rect">
            <a:avLst/>
          </a:prstGeom>
        </p:spPr>
      </p:pic>
      <p:sp>
        <p:nvSpPr>
          <p:cNvPr id="14" name="Text 9"/>
          <p:cNvSpPr txBox="1"/>
          <p:nvPr/>
        </p:nvSpPr>
        <p:spPr>
          <a:xfrm>
            <a:off x="5257800" y="3291840"/>
            <a:ext cx="1828800" cy="640080"/>
          </a:xfrm>
          <a:prstGeom prst="rect">
            <a:avLst/>
          </a:prstGeom>
          <a:noFill/>
          <a:ln/>
        </p:spPr>
        <p:txBody>
          <a:bodyPr wrap="square" lIns="0" tIns="0" rIns="0" bIns="0" rtlCol="0" anchor="ctr"/>
          <a:lstStyle/>
          <a:p>
            <a:pPr algn="ctr" indent="0" marL="0">
              <a:buNone/>
            </a:pPr>
            <a:r>
              <a:rPr lang="en-US" sz="1800" b="1" dirty="0">
                <a:solidFill>
                  <a:srgbClr val="1B2A41"/>
                </a:solidFill>
                <a:latin typeface="Cambria" pitchFamily="34" charset="0"/>
                <a:ea typeface="Cambria" pitchFamily="34" charset="-122"/>
                <a:cs typeface="Cambria" pitchFamily="34" charset="-120"/>
              </a:rPr>
              <a:t>Model Serving</a:t>
            </a:r>
            <a:endParaRPr lang="en-US" sz="1800" dirty="0"/>
          </a:p>
        </p:txBody>
      </p:sp>
      <p:sp>
        <p:nvSpPr>
          <p:cNvPr id="15" name="Text 10"/>
          <p:cNvSpPr txBox="1"/>
          <p:nvPr/>
        </p:nvSpPr>
        <p:spPr>
          <a:xfrm>
            <a:off x="5303520" y="4023360"/>
            <a:ext cx="1737360" cy="1737360"/>
          </a:xfrm>
          <a:prstGeom prst="rect">
            <a:avLst/>
          </a:prstGeom>
          <a:noFill/>
          <a:ln/>
        </p:spPr>
        <p:txBody>
          <a:bodyPr wrap="square" lIns="0" tIns="0" rIns="0" bIns="0" rtlCol="0" anchor="t"/>
          <a:lstStyle/>
          <a:p>
            <a:pPr algn="ctr" indent="0" marL="0">
              <a:buNone/>
            </a:pPr>
            <a:r>
              <a:rPr lang="en-US" sz="1400" dirty="0">
                <a:solidFill>
                  <a:srgbClr val="5B6B82"/>
                </a:solidFill>
                <a:latin typeface="Calibri" pitchFamily="34" charset="0"/>
                <a:ea typeface="Calibri" pitchFamily="34" charset="-122"/>
                <a:cs typeface="Calibri" pitchFamily="34" charset="-120"/>
              </a:rPr>
              <a:t>Hosts the embedding and Llama chat models</a:t>
            </a:r>
            <a:endParaRPr lang="en-US" sz="1400" dirty="0"/>
          </a:p>
        </p:txBody>
      </p:sp>
      <p:sp>
        <p:nvSpPr>
          <p:cNvPr id="16" name="Shape 11"/>
          <p:cNvSpPr/>
          <p:nvPr/>
        </p:nvSpPr>
        <p:spPr>
          <a:xfrm>
            <a:off x="7406640" y="1828800"/>
            <a:ext cx="2103120" cy="4114800"/>
          </a:xfrm>
          <a:prstGeom prst="roundRect">
            <a:avLst>
              <a:gd name="adj" fmla="val 5217"/>
            </a:avLst>
          </a:prstGeom>
          <a:solidFill>
            <a:srgbClr val="F3F7F9"/>
          </a:solidFill>
          <a:ln w="12700">
            <a:solidFill>
              <a:srgbClr val="F3F7F9"/>
            </a:solidFill>
            <a:prstDash val="solid"/>
          </a:ln>
          <a:effectLst>
            <a:outerShdw sx="100000" sy="100000" kx="0" ky="0" algn="bl" rotWithShape="0" blurRad="76200" dist="25400" dir="5400000">
              <a:srgbClr val="000000">
                <a:alpha val="15000"/>
              </a:srgbClr>
            </a:outerShdw>
          </a:effectLst>
        </p:spPr>
      </p:sp>
      <p:pic>
        <p:nvPicPr>
          <p:cNvPr id="17" name="Image 3" descr="icons/databricks-apps.png">    </p:cNvPr>
          <p:cNvPicPr>
            <a:picLocks noChangeAspect="1"/>
          </p:cNvPicPr>
          <p:nvPr/>
        </p:nvPicPr>
        <p:blipFill>
          <a:blip r:embed="rId4"/>
          <a:stretch>
            <a:fillRect/>
          </a:stretch>
        </p:blipFill>
        <p:spPr>
          <a:xfrm>
            <a:off x="8001000" y="2103120"/>
            <a:ext cx="914400" cy="914400"/>
          </a:xfrm>
          <a:prstGeom prst="rect">
            <a:avLst/>
          </a:prstGeom>
        </p:spPr>
      </p:pic>
      <p:sp>
        <p:nvSpPr>
          <p:cNvPr id="18" name="Text 12"/>
          <p:cNvSpPr txBox="1"/>
          <p:nvPr/>
        </p:nvSpPr>
        <p:spPr>
          <a:xfrm>
            <a:off x="7543800" y="3291840"/>
            <a:ext cx="1828800" cy="640080"/>
          </a:xfrm>
          <a:prstGeom prst="rect">
            <a:avLst/>
          </a:prstGeom>
          <a:noFill/>
          <a:ln/>
        </p:spPr>
        <p:txBody>
          <a:bodyPr wrap="square" lIns="0" tIns="0" rIns="0" bIns="0" rtlCol="0" anchor="ctr"/>
          <a:lstStyle/>
          <a:p>
            <a:pPr algn="ctr" indent="0" marL="0">
              <a:buNone/>
            </a:pPr>
            <a:r>
              <a:rPr lang="en-US" sz="1800" b="1" dirty="0">
                <a:solidFill>
                  <a:srgbClr val="1B2A41"/>
                </a:solidFill>
                <a:latin typeface="Cambria" pitchFamily="34" charset="0"/>
                <a:ea typeface="Cambria" pitchFamily="34" charset="-122"/>
                <a:cs typeface="Cambria" pitchFamily="34" charset="-120"/>
              </a:rPr>
              <a:t>Databricks App</a:t>
            </a:r>
            <a:endParaRPr lang="en-US" sz="1800" dirty="0"/>
          </a:p>
        </p:txBody>
      </p:sp>
      <p:sp>
        <p:nvSpPr>
          <p:cNvPr id="19" name="Text 13"/>
          <p:cNvSpPr txBox="1"/>
          <p:nvPr/>
        </p:nvSpPr>
        <p:spPr>
          <a:xfrm>
            <a:off x="7589520" y="4023360"/>
            <a:ext cx="1737360" cy="1737360"/>
          </a:xfrm>
          <a:prstGeom prst="rect">
            <a:avLst/>
          </a:prstGeom>
          <a:noFill/>
          <a:ln/>
        </p:spPr>
        <p:txBody>
          <a:bodyPr wrap="square" lIns="0" tIns="0" rIns="0" bIns="0" rtlCol="0" anchor="t"/>
          <a:lstStyle/>
          <a:p>
            <a:pPr algn="ctr" indent="0" marL="0">
              <a:buNone/>
            </a:pPr>
            <a:r>
              <a:rPr lang="en-US" sz="1400" dirty="0">
                <a:solidFill>
                  <a:srgbClr val="5B6B82"/>
                </a:solidFill>
                <a:latin typeface="Calibri" pitchFamily="34" charset="0"/>
                <a:ea typeface="Calibri" pitchFamily="34" charset="-122"/>
                <a:cs typeface="Calibri" pitchFamily="34" charset="-120"/>
              </a:rPr>
              <a:t>The chat UI our users open in a browser</a:t>
            </a:r>
            <a:endParaRPr lang="en-US" sz="1400" dirty="0"/>
          </a:p>
        </p:txBody>
      </p:sp>
      <p:sp>
        <p:nvSpPr>
          <p:cNvPr id="20" name="Shape 14"/>
          <p:cNvSpPr/>
          <p:nvPr/>
        </p:nvSpPr>
        <p:spPr>
          <a:xfrm>
            <a:off x="9692640" y="1828800"/>
            <a:ext cx="2103120" cy="4114800"/>
          </a:xfrm>
          <a:prstGeom prst="roundRect">
            <a:avLst>
              <a:gd name="adj" fmla="val 5217"/>
            </a:avLst>
          </a:prstGeom>
          <a:solidFill>
            <a:srgbClr val="FBE6DF"/>
          </a:solidFill>
          <a:ln w="12700">
            <a:solidFill>
              <a:srgbClr val="FBE6DF"/>
            </a:solidFill>
            <a:prstDash val="solid"/>
          </a:ln>
          <a:effectLst>
            <a:outerShdw sx="100000" sy="100000" kx="0" ky="0" algn="bl" rotWithShape="0" blurRad="76200" dist="25400" dir="5400000">
              <a:srgbClr val="000000">
                <a:alpha val="15000"/>
              </a:srgbClr>
            </a:outerShdw>
          </a:effectLst>
        </p:spPr>
      </p:sp>
      <p:pic>
        <p:nvPicPr>
          <p:cNvPr id="21" name="Image 4" descr="icons/asset-bundles.png">    </p:cNvPr>
          <p:cNvPicPr>
            <a:picLocks noChangeAspect="1"/>
          </p:cNvPicPr>
          <p:nvPr/>
        </p:nvPicPr>
        <p:blipFill>
          <a:blip r:embed="rId5"/>
          <a:stretch>
            <a:fillRect/>
          </a:stretch>
        </p:blipFill>
        <p:spPr>
          <a:xfrm>
            <a:off x="10287000" y="2103120"/>
            <a:ext cx="914400" cy="914400"/>
          </a:xfrm>
          <a:prstGeom prst="rect">
            <a:avLst/>
          </a:prstGeom>
        </p:spPr>
      </p:pic>
      <p:sp>
        <p:nvSpPr>
          <p:cNvPr id="22" name="Text 15"/>
          <p:cNvSpPr txBox="1"/>
          <p:nvPr/>
        </p:nvSpPr>
        <p:spPr>
          <a:xfrm>
            <a:off x="9829800" y="3291840"/>
            <a:ext cx="1828800" cy="640080"/>
          </a:xfrm>
          <a:prstGeom prst="rect">
            <a:avLst/>
          </a:prstGeom>
          <a:noFill/>
          <a:ln/>
        </p:spPr>
        <p:txBody>
          <a:bodyPr wrap="square" lIns="0" tIns="0" rIns="0" bIns="0" rtlCol="0" anchor="ctr"/>
          <a:lstStyle/>
          <a:p>
            <a:pPr algn="ctr" indent="0" marL="0">
              <a:buNone/>
            </a:pPr>
            <a:r>
              <a:rPr lang="en-US" sz="1800" b="1" dirty="0">
                <a:solidFill>
                  <a:srgbClr val="1B2A41"/>
                </a:solidFill>
                <a:latin typeface="Cambria" pitchFamily="34" charset="0"/>
                <a:ea typeface="Cambria" pitchFamily="34" charset="-122"/>
                <a:cs typeface="Cambria" pitchFamily="34" charset="-120"/>
              </a:rPr>
              <a:t>Asset Bundles (DAB)</a:t>
            </a:r>
            <a:endParaRPr lang="en-US" sz="1800" dirty="0"/>
          </a:p>
        </p:txBody>
      </p:sp>
      <p:sp>
        <p:nvSpPr>
          <p:cNvPr id="23" name="Text 16"/>
          <p:cNvSpPr txBox="1"/>
          <p:nvPr/>
        </p:nvSpPr>
        <p:spPr>
          <a:xfrm>
            <a:off x="9875520" y="4023360"/>
            <a:ext cx="1737360" cy="1737360"/>
          </a:xfrm>
          <a:prstGeom prst="rect">
            <a:avLst/>
          </a:prstGeom>
          <a:noFill/>
          <a:ln/>
        </p:spPr>
        <p:txBody>
          <a:bodyPr wrap="square" lIns="0" tIns="0" rIns="0" bIns="0" rtlCol="0" anchor="t"/>
          <a:lstStyle/>
          <a:p>
            <a:pPr algn="ctr" indent="0" marL="0">
              <a:buNone/>
            </a:pPr>
            <a:r>
              <a:rPr lang="en-US" sz="1400" dirty="0">
                <a:solidFill>
                  <a:srgbClr val="5B6B82"/>
                </a:solidFill>
                <a:latin typeface="Calibri" pitchFamily="34" charset="0"/>
                <a:ea typeface="Calibri" pitchFamily="34" charset="-122"/>
                <a:cs typeface="Calibri" pitchFamily="34" charset="-120"/>
              </a:rPr>
              <a:t>Deploys notebooks, job, index, and app from code</a:t>
            </a:r>
            <a:endParaRPr lang="en-US" sz="1400" dirty="0"/>
          </a:p>
        </p:txBody>
      </p:sp>
      <p:sp>
        <p:nvSpPr>
          <p:cNvPr id="24" name="Text 17"/>
          <p:cNvSpPr txBox="1"/>
          <p:nvPr/>
        </p:nvSpPr>
        <p:spPr>
          <a:xfrm>
            <a:off x="548640" y="6126480"/>
            <a:ext cx="11064240" cy="365760"/>
          </a:xfrm>
          <a:prstGeom prst="rect">
            <a:avLst/>
          </a:prstGeom>
          <a:noFill/>
          <a:ln/>
        </p:spPr>
        <p:txBody>
          <a:bodyPr wrap="square" lIns="0" tIns="0" rIns="0" bIns="0" rtlCol="0" anchor="ctr"/>
          <a:lstStyle/>
          <a:p>
            <a:pPr indent="0" marL="0">
              <a:buNone/>
            </a:pPr>
            <a:r>
              <a:rPr lang="en-US" sz="1100" i="1" dirty="0">
                <a:solidFill>
                  <a:srgbClr val="5B6B82"/>
                </a:solidFill>
                <a:latin typeface="Calibri" pitchFamily="34" charset="0"/>
                <a:ea typeface="Calibri" pitchFamily="34" charset="-122"/>
                <a:cs typeface="Calibri" pitchFamily="34" charset="-120"/>
              </a:rPr>
              <a:t>Icons: official Databricks architecture icon set (community-made, unofficial). Note: Vector Search is now called Databricks AI Search.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0972800" cy="320040"/>
          </a:xfrm>
          <a:prstGeom prst="rect">
            <a:avLst/>
          </a:prstGeom>
          <a:noFill/>
          <a:ln/>
        </p:spPr>
        <p:txBody>
          <a:bodyPr wrap="square" lIns="0" tIns="0" rIns="0" bIns="0" rtlCol="0" anchor="ctr"/>
          <a:lstStyle/>
          <a:p>
            <a:pPr indent="0" marL="0">
              <a:buNone/>
            </a:pPr>
            <a:r>
              <a:rPr lang="en-US" sz="1300" b="1" spc="200" kern="0" dirty="0">
                <a:solidFill>
                  <a:srgbClr val="D9542F"/>
                </a:solidFill>
                <a:latin typeface="Calibri" pitchFamily="34" charset="0"/>
                <a:ea typeface="Calibri" pitchFamily="34" charset="-122"/>
                <a:cs typeface="Calibri" pitchFamily="34" charset="-120"/>
              </a:rPr>
              <a:t>DATABRICKS ARCHITECTURE</a:t>
            </a:r>
            <a:endParaRPr lang="en-US" sz="1300" dirty="0"/>
          </a:p>
        </p:txBody>
      </p:sp>
      <p:sp>
        <p:nvSpPr>
          <p:cNvPr id="3" name="Text 1"/>
          <p:cNvSpPr txBox="1"/>
          <p:nvPr/>
        </p:nvSpPr>
        <p:spPr>
          <a:xfrm>
            <a:off x="548640" y="731520"/>
            <a:ext cx="11064240" cy="822960"/>
          </a:xfrm>
          <a:prstGeom prst="rect">
            <a:avLst/>
          </a:prstGeom>
          <a:noFill/>
          <a:ln/>
        </p:spPr>
        <p:txBody>
          <a:bodyPr wrap="square" lIns="0" tIns="0" rIns="0" bIns="0" rtlCol="0" anchor="t"/>
          <a:lstStyle/>
          <a:p>
            <a:pPr indent="0" marL="0">
              <a:buNone/>
            </a:pPr>
            <a:r>
              <a:rPr lang="en-US" sz="3600" b="1" dirty="0">
                <a:solidFill>
                  <a:srgbClr val="1B2A41"/>
                </a:solidFill>
                <a:latin typeface="Cambria" pitchFamily="34" charset="0"/>
                <a:ea typeface="Cambria" pitchFamily="34" charset="-122"/>
                <a:cs typeface="Cambria" pitchFamily="34" charset="-120"/>
              </a:rPr>
              <a:t>How the pieces connect</a:t>
            </a:r>
            <a:endParaRPr lang="en-US" sz="3600" dirty="0"/>
          </a:p>
        </p:txBody>
      </p:sp>
      <p:sp>
        <p:nvSpPr>
          <p:cNvPr id="4" name="Shape 2"/>
          <p:cNvSpPr/>
          <p:nvPr/>
        </p:nvSpPr>
        <p:spPr>
          <a:xfrm>
            <a:off x="548640" y="5715000"/>
            <a:ext cx="11064240" cy="502920"/>
          </a:xfrm>
          <a:prstGeom prst="roundRect">
            <a:avLst>
              <a:gd name="adj" fmla="val 14545"/>
            </a:avLst>
          </a:prstGeom>
          <a:solidFill>
            <a:srgbClr val="C9D6E3"/>
          </a:solidFill>
          <a:ln w="12700">
            <a:solidFill>
              <a:srgbClr val="C9D6E3"/>
            </a:solidFill>
            <a:prstDash val="solid"/>
          </a:ln>
        </p:spPr>
      </p:sp>
      <p:sp>
        <p:nvSpPr>
          <p:cNvPr id="5" name="Text 3"/>
          <p:cNvSpPr txBox="1"/>
          <p:nvPr/>
        </p:nvSpPr>
        <p:spPr>
          <a:xfrm>
            <a:off x="548640" y="5715000"/>
            <a:ext cx="11064240" cy="502920"/>
          </a:xfrm>
          <a:prstGeom prst="rect">
            <a:avLst/>
          </a:prstGeom>
          <a:noFill/>
          <a:ln/>
        </p:spPr>
        <p:txBody>
          <a:bodyPr wrap="square" lIns="0" tIns="0" rIns="0" bIns="0" rtlCol="0" anchor="ctr"/>
          <a:lstStyle/>
          <a:p>
            <a:pPr algn="ctr" indent="0" marL="0">
              <a:buNone/>
            </a:pPr>
            <a:r>
              <a:rPr lang="en-US" sz="1400" b="1" dirty="0">
                <a:solidFill>
                  <a:srgbClr val="1B2A41"/>
                </a:solidFill>
                <a:latin typeface="Calibri" pitchFamily="34" charset="0"/>
                <a:ea typeface="Calibri" pitchFamily="34" charset="-122"/>
                <a:cs typeface="Calibri" pitchFamily="34" charset="-120"/>
              </a:rPr>
              <a:t>Unity Catalog governs every table, volume, and index under one permission model</a:t>
            </a:r>
            <a:endParaRPr lang="en-US" sz="1400" dirty="0"/>
          </a:p>
        </p:txBody>
      </p:sp>
      <p:pic>
        <p:nvPicPr>
          <p:cNvPr id="6" name="Image 0" descr="icons/lakehouse-storage.png">    </p:cNvPr>
          <p:cNvPicPr>
            <a:picLocks noChangeAspect="1"/>
          </p:cNvPicPr>
          <p:nvPr/>
        </p:nvPicPr>
        <p:blipFill>
          <a:blip r:embed="rId1"/>
          <a:stretch>
            <a:fillRect/>
          </a:stretch>
        </p:blipFill>
        <p:spPr>
          <a:xfrm>
            <a:off x="1371600" y="1874520"/>
            <a:ext cx="822960" cy="822960"/>
          </a:xfrm>
          <a:prstGeom prst="rect">
            <a:avLst/>
          </a:prstGeom>
        </p:spPr>
      </p:pic>
      <p:sp>
        <p:nvSpPr>
          <p:cNvPr id="7" name="Text 4"/>
          <p:cNvSpPr txBox="1"/>
          <p:nvPr/>
        </p:nvSpPr>
        <p:spPr>
          <a:xfrm>
            <a:off x="457200" y="2743200"/>
            <a:ext cx="2651760" cy="36576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Volume</a:t>
            </a:r>
            <a:endParaRPr lang="en-US" sz="1600" dirty="0"/>
          </a:p>
        </p:txBody>
      </p:sp>
      <p:sp>
        <p:nvSpPr>
          <p:cNvPr id="8" name="Text 5"/>
          <p:cNvSpPr txBox="1"/>
          <p:nvPr/>
        </p:nvSpPr>
        <p:spPr>
          <a:xfrm>
            <a:off x="457200" y="3090672"/>
            <a:ext cx="2651760" cy="32004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source docs</a:t>
            </a:r>
            <a:endParaRPr lang="en-US" sz="1200" dirty="0"/>
          </a:p>
        </p:txBody>
      </p:sp>
      <p:pic>
        <p:nvPicPr>
          <p:cNvPr id="9" name="Image 1" descr="icons/ai-search.png">    </p:cNvPr>
          <p:cNvPicPr>
            <a:picLocks noChangeAspect="1"/>
          </p:cNvPicPr>
          <p:nvPr/>
        </p:nvPicPr>
        <p:blipFill>
          <a:blip r:embed="rId2"/>
          <a:stretch>
            <a:fillRect/>
          </a:stretch>
        </p:blipFill>
        <p:spPr>
          <a:xfrm>
            <a:off x="5029200" y="1874520"/>
            <a:ext cx="822960" cy="822960"/>
          </a:xfrm>
          <a:prstGeom prst="rect">
            <a:avLst/>
          </a:prstGeom>
        </p:spPr>
      </p:pic>
      <p:sp>
        <p:nvSpPr>
          <p:cNvPr id="10" name="Text 6"/>
          <p:cNvSpPr txBox="1"/>
          <p:nvPr/>
        </p:nvSpPr>
        <p:spPr>
          <a:xfrm>
            <a:off x="4114800" y="2743200"/>
            <a:ext cx="2651760" cy="36576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Chunks + Index</a:t>
            </a:r>
            <a:endParaRPr lang="en-US" sz="1600" dirty="0"/>
          </a:p>
        </p:txBody>
      </p:sp>
      <p:sp>
        <p:nvSpPr>
          <p:cNvPr id="11" name="Text 7"/>
          <p:cNvSpPr txBox="1"/>
          <p:nvPr/>
        </p:nvSpPr>
        <p:spPr>
          <a:xfrm>
            <a:off x="4114800" y="3090672"/>
            <a:ext cx="2651760" cy="32004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Vector Search</a:t>
            </a:r>
            <a:endParaRPr lang="en-US" sz="1200" dirty="0"/>
          </a:p>
        </p:txBody>
      </p:sp>
      <p:pic>
        <p:nvPicPr>
          <p:cNvPr id="12" name="Image 2" descr="icons/databricks-apps.png">    </p:cNvPr>
          <p:cNvPicPr>
            <a:picLocks noChangeAspect="1"/>
          </p:cNvPicPr>
          <p:nvPr/>
        </p:nvPicPr>
        <p:blipFill>
          <a:blip r:embed="rId3"/>
          <a:stretch>
            <a:fillRect/>
          </a:stretch>
        </p:blipFill>
        <p:spPr>
          <a:xfrm>
            <a:off x="8686800" y="1874520"/>
            <a:ext cx="822960" cy="822960"/>
          </a:xfrm>
          <a:prstGeom prst="rect">
            <a:avLst/>
          </a:prstGeom>
        </p:spPr>
      </p:pic>
      <p:sp>
        <p:nvSpPr>
          <p:cNvPr id="13" name="Text 8"/>
          <p:cNvSpPr txBox="1"/>
          <p:nvPr/>
        </p:nvSpPr>
        <p:spPr>
          <a:xfrm>
            <a:off x="7772400" y="2743200"/>
            <a:ext cx="2651760" cy="36576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Databricks App</a:t>
            </a:r>
            <a:endParaRPr lang="en-US" sz="1600" dirty="0"/>
          </a:p>
        </p:txBody>
      </p:sp>
      <p:sp>
        <p:nvSpPr>
          <p:cNvPr id="14" name="Text 9"/>
          <p:cNvSpPr txBox="1"/>
          <p:nvPr/>
        </p:nvSpPr>
        <p:spPr>
          <a:xfrm>
            <a:off x="7772400" y="3090672"/>
            <a:ext cx="2651760" cy="32004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chat UI</a:t>
            </a:r>
            <a:endParaRPr lang="en-US" sz="1200" dirty="0"/>
          </a:p>
        </p:txBody>
      </p:sp>
      <p:sp>
        <p:nvSpPr>
          <p:cNvPr id="15" name="Shape 10"/>
          <p:cNvSpPr/>
          <p:nvPr/>
        </p:nvSpPr>
        <p:spPr>
          <a:xfrm>
            <a:off x="3383280" y="2286000"/>
            <a:ext cx="822960" cy="0"/>
          </a:xfrm>
          <a:prstGeom prst="line">
            <a:avLst/>
          </a:prstGeom>
          <a:noFill/>
          <a:ln w="31750">
            <a:solidFill>
              <a:srgbClr val="5B6B82"/>
            </a:solidFill>
            <a:prstDash val="solid"/>
            <a:tailEnd type="triangle"/>
          </a:ln>
        </p:spPr>
      </p:sp>
      <p:sp>
        <p:nvSpPr>
          <p:cNvPr id="16" name="Shape 11"/>
          <p:cNvSpPr/>
          <p:nvPr/>
        </p:nvSpPr>
        <p:spPr>
          <a:xfrm>
            <a:off x="7040880" y="2286000"/>
            <a:ext cx="822960" cy="0"/>
          </a:xfrm>
          <a:prstGeom prst="line">
            <a:avLst/>
          </a:prstGeom>
          <a:noFill/>
          <a:ln w="31750">
            <a:solidFill>
              <a:srgbClr val="5B6B82"/>
            </a:solidFill>
            <a:prstDash val="solid"/>
            <a:tailEnd type="triangle"/>
          </a:ln>
        </p:spPr>
      </p:sp>
      <p:sp>
        <p:nvSpPr>
          <p:cNvPr id="17" name="Text 12"/>
          <p:cNvSpPr txBox="1"/>
          <p:nvPr/>
        </p:nvSpPr>
        <p:spPr>
          <a:xfrm>
            <a:off x="3246120" y="1691640"/>
            <a:ext cx="1188720" cy="457200"/>
          </a:xfrm>
          <a:prstGeom prst="rect">
            <a:avLst/>
          </a:prstGeom>
          <a:noFill/>
          <a:ln/>
        </p:spPr>
        <p:txBody>
          <a:bodyPr wrap="square" lIns="0" tIns="0" rIns="0" bIns="0" rtlCol="0" anchor="ctr"/>
          <a:lstStyle/>
          <a:p>
            <a:pPr algn="ctr" indent="0" marL="0">
              <a:buNone/>
            </a:pPr>
            <a:r>
              <a:rPr lang="en-US" sz="1000" i="1" dirty="0">
                <a:solidFill>
                  <a:srgbClr val="5B6B82"/>
                </a:solidFill>
                <a:latin typeface="Calibri" pitchFamily="34" charset="0"/>
                <a:ea typeface="Calibri" pitchFamily="34" charset="-122"/>
                <a:cs typeface="Calibri" pitchFamily="34" charset="-120"/>
              </a:rPr>
              <a:t>ingest job: chunk and embed</a:t>
            </a:r>
            <a:endParaRPr lang="en-US" sz="1000" dirty="0"/>
          </a:p>
        </p:txBody>
      </p:sp>
      <p:sp>
        <p:nvSpPr>
          <p:cNvPr id="18" name="Text 13"/>
          <p:cNvSpPr txBox="1"/>
          <p:nvPr/>
        </p:nvSpPr>
        <p:spPr>
          <a:xfrm>
            <a:off x="6903720" y="1691640"/>
            <a:ext cx="1188720" cy="457200"/>
          </a:xfrm>
          <a:prstGeom prst="rect">
            <a:avLst/>
          </a:prstGeom>
          <a:noFill/>
          <a:ln/>
        </p:spPr>
        <p:txBody>
          <a:bodyPr wrap="square" lIns="0" tIns="0" rIns="0" bIns="0" rtlCol="0" anchor="ctr"/>
          <a:lstStyle/>
          <a:p>
            <a:pPr algn="ctr" indent="0" marL="0">
              <a:buNone/>
            </a:pPr>
            <a:r>
              <a:rPr lang="en-US" sz="1000" i="1" dirty="0">
                <a:solidFill>
                  <a:srgbClr val="5B6B82"/>
                </a:solidFill>
                <a:latin typeface="Calibri" pitchFamily="34" charset="0"/>
                <a:ea typeface="Calibri" pitchFamily="34" charset="-122"/>
                <a:cs typeface="Calibri" pitchFamily="34" charset="-120"/>
              </a:rPr>
              <a:t>retrieve top 4</a:t>
            </a:r>
            <a:endParaRPr lang="en-US" sz="1000" dirty="0"/>
          </a:p>
        </p:txBody>
      </p:sp>
      <p:pic>
        <p:nvPicPr>
          <p:cNvPr id="19" name="Image 3" descr="icons/model-serving.png">    </p:cNvPr>
          <p:cNvPicPr>
            <a:picLocks noChangeAspect="1"/>
          </p:cNvPicPr>
          <p:nvPr/>
        </p:nvPicPr>
        <p:blipFill>
          <a:blip r:embed="rId4"/>
          <a:stretch>
            <a:fillRect/>
          </a:stretch>
        </p:blipFill>
        <p:spPr>
          <a:xfrm>
            <a:off x="8686800" y="3931920"/>
            <a:ext cx="822960" cy="822960"/>
          </a:xfrm>
          <a:prstGeom prst="rect">
            <a:avLst/>
          </a:prstGeom>
        </p:spPr>
      </p:pic>
      <p:sp>
        <p:nvSpPr>
          <p:cNvPr id="20" name="Text 14"/>
          <p:cNvSpPr txBox="1"/>
          <p:nvPr/>
        </p:nvSpPr>
        <p:spPr>
          <a:xfrm>
            <a:off x="7772400" y="4800600"/>
            <a:ext cx="2651760" cy="365760"/>
          </a:xfrm>
          <a:prstGeom prst="rect">
            <a:avLst/>
          </a:prstGeom>
          <a:noFill/>
          <a:ln/>
        </p:spPr>
        <p:txBody>
          <a:bodyPr wrap="square" lIns="0" tIns="0" rIns="0" bIns="0" rtlCol="0" anchor="ctr"/>
          <a:lstStyle/>
          <a:p>
            <a:pPr algn="ctr" indent="0" marL="0">
              <a:buNone/>
            </a:pPr>
            <a:r>
              <a:rPr lang="en-US" sz="1600" b="1" dirty="0">
                <a:solidFill>
                  <a:srgbClr val="1B2A41"/>
                </a:solidFill>
                <a:latin typeface="Calibri" pitchFamily="34" charset="0"/>
                <a:ea typeface="Calibri" pitchFamily="34" charset="-122"/>
                <a:cs typeface="Calibri" pitchFamily="34" charset="-120"/>
              </a:rPr>
              <a:t>Model Serving</a:t>
            </a:r>
            <a:endParaRPr lang="en-US" sz="1600" dirty="0"/>
          </a:p>
        </p:txBody>
      </p:sp>
      <p:sp>
        <p:nvSpPr>
          <p:cNvPr id="21" name="Text 15"/>
          <p:cNvSpPr txBox="1"/>
          <p:nvPr/>
        </p:nvSpPr>
        <p:spPr>
          <a:xfrm>
            <a:off x="7772400" y="5120640"/>
            <a:ext cx="2651760" cy="320040"/>
          </a:xfrm>
          <a:prstGeom prst="rect">
            <a:avLst/>
          </a:prstGeom>
          <a:noFill/>
          <a:ln/>
        </p:spPr>
        <p:txBody>
          <a:bodyPr wrap="square" lIns="0" tIns="0" rIns="0" bIns="0" rtlCol="0" anchor="ctr"/>
          <a:lstStyle/>
          <a:p>
            <a:pPr algn="ctr" indent="0" marL="0">
              <a:buNone/>
            </a:pPr>
            <a:r>
              <a:rPr lang="en-US" sz="1200" dirty="0">
                <a:solidFill>
                  <a:srgbClr val="5B6B82"/>
                </a:solidFill>
                <a:latin typeface="Calibri" pitchFamily="34" charset="0"/>
                <a:ea typeface="Calibri" pitchFamily="34" charset="-122"/>
                <a:cs typeface="Calibri" pitchFamily="34" charset="-120"/>
              </a:rPr>
              <a:t>Llama 3.3 writes the answer</a:t>
            </a:r>
            <a:endParaRPr lang="en-US" sz="1200" dirty="0"/>
          </a:p>
        </p:txBody>
      </p:sp>
      <p:sp>
        <p:nvSpPr>
          <p:cNvPr id="22" name="Shape 16"/>
          <p:cNvSpPr/>
          <p:nvPr/>
        </p:nvSpPr>
        <p:spPr>
          <a:xfrm>
            <a:off x="9464040" y="3520440"/>
            <a:ext cx="0" cy="365760"/>
          </a:xfrm>
          <a:prstGeom prst="line">
            <a:avLst/>
          </a:prstGeom>
          <a:noFill/>
          <a:ln w="31750">
            <a:solidFill>
              <a:srgbClr val="0E8C84"/>
            </a:solidFill>
            <a:prstDash val="solid"/>
            <a:tailEnd type="triangle"/>
          </a:ln>
        </p:spPr>
      </p:sp>
      <p:sp>
        <p:nvSpPr>
          <p:cNvPr id="23" name="Text 17"/>
          <p:cNvSpPr txBox="1"/>
          <p:nvPr/>
        </p:nvSpPr>
        <p:spPr>
          <a:xfrm>
            <a:off x="9555480" y="3520440"/>
            <a:ext cx="2194560" cy="365760"/>
          </a:xfrm>
          <a:prstGeom prst="rect">
            <a:avLst/>
          </a:prstGeom>
          <a:noFill/>
          <a:ln/>
        </p:spPr>
        <p:txBody>
          <a:bodyPr wrap="square" lIns="0" tIns="0" rIns="0" bIns="0" rtlCol="0" anchor="ctr"/>
          <a:lstStyle/>
          <a:p>
            <a:pPr indent="0" marL="0">
              <a:buNone/>
            </a:pPr>
            <a:r>
              <a:rPr lang="en-US" sz="1000" i="1" dirty="0">
                <a:solidFill>
                  <a:srgbClr val="5B6B82"/>
                </a:solidFill>
                <a:latin typeface="Calibri" pitchFamily="34" charset="0"/>
                <a:ea typeface="Calibri" pitchFamily="34" charset="-122"/>
                <a:cs typeface="Calibri" pitchFamily="34" charset="-120"/>
              </a:rPr>
              <a:t>prompt + chunks (answer comes back)</a:t>
            </a:r>
            <a:endParaRPr lang="en-US" sz="1000" dirty="0"/>
          </a:p>
        </p:txBody>
      </p:sp>
      <p:sp>
        <p:nvSpPr>
          <p:cNvPr id="24" name="Shape 18"/>
          <p:cNvSpPr/>
          <p:nvPr/>
        </p:nvSpPr>
        <p:spPr>
          <a:xfrm>
            <a:off x="548640" y="3931920"/>
            <a:ext cx="5394960" cy="1463040"/>
          </a:xfrm>
          <a:prstGeom prst="roundRect">
            <a:avLst>
              <a:gd name="adj" fmla="val 7500"/>
            </a:avLst>
          </a:prstGeom>
          <a:solidFill>
            <a:srgbClr val="FBE6DF"/>
          </a:solidFill>
          <a:ln w="12700">
            <a:solidFill>
              <a:srgbClr val="FBE6DF"/>
            </a:solidFill>
            <a:prstDash val="solid"/>
          </a:ln>
          <a:effectLst>
            <a:outerShdw sx="100000" sy="100000" kx="0" ky="0" algn="bl" rotWithShape="0" blurRad="76200" dist="25400" dir="5400000">
              <a:srgbClr val="000000">
                <a:alpha val="15000"/>
              </a:srgbClr>
            </a:outerShdw>
          </a:effectLst>
        </p:spPr>
      </p:sp>
      <p:pic>
        <p:nvPicPr>
          <p:cNvPr id="25" name="Image 4" descr="icons/asset-bundles.png">    </p:cNvPr>
          <p:cNvPicPr>
            <a:picLocks noChangeAspect="1"/>
          </p:cNvPicPr>
          <p:nvPr/>
        </p:nvPicPr>
        <p:blipFill>
          <a:blip r:embed="rId5"/>
          <a:stretch>
            <a:fillRect/>
          </a:stretch>
        </p:blipFill>
        <p:spPr>
          <a:xfrm>
            <a:off x="822960" y="4114800"/>
            <a:ext cx="1005840" cy="1005840"/>
          </a:xfrm>
          <a:prstGeom prst="rect">
            <a:avLst/>
          </a:prstGeom>
        </p:spPr>
      </p:pic>
      <p:sp>
        <p:nvSpPr>
          <p:cNvPr id="26" name="Text 19"/>
          <p:cNvSpPr txBox="1"/>
          <p:nvPr/>
        </p:nvSpPr>
        <p:spPr>
          <a:xfrm>
            <a:off x="2011680" y="4069080"/>
            <a:ext cx="3840480" cy="1188720"/>
          </a:xfrm>
          <a:prstGeom prst="rect">
            <a:avLst/>
          </a:prstGeom>
          <a:noFill/>
          <a:ln/>
        </p:spPr>
        <p:txBody>
          <a:bodyPr wrap="square" lIns="0" tIns="0" rIns="0" bIns="0" rtlCol="0" anchor="ctr"/>
          <a:lstStyle/>
          <a:p>
            <a:pPr indent="0" marL="0">
              <a:buNone/>
            </a:pPr>
            <a:r>
              <a:rPr lang="en-US" sz="1700" b="1" dirty="0">
                <a:solidFill>
                  <a:srgbClr val="D9542F"/>
                </a:solidFill>
                <a:latin typeface="Calibri" pitchFamily="34" charset="0"/>
                <a:ea typeface="Calibri" pitchFamily="34" charset="-122"/>
                <a:cs typeface="Calibri" pitchFamily="34" charset="-120"/>
              </a:rPr>
              <a:t>Asset Bundle (DAB) </a:t>
            </a:r>
            <a:endParaRPr lang="en-US" sz="1700" dirty="0"/>
          </a:p>
          <a:p>
            <a:pPr indent="0" marL="0">
              <a:buNone/>
            </a:pPr>
            <a:r>
              <a:rPr lang="en-US" sz="1400" dirty="0">
                <a:solidFill>
                  <a:srgbClr val="1B2A41"/>
                </a:solidFill>
                <a:latin typeface="Calibri" pitchFamily="34" charset="0"/>
                <a:ea typeface="Calibri" pitchFamily="34" charset="-122"/>
                <a:cs typeface="Calibri" pitchFamily="34" charset="-120"/>
              </a:rPr>
              <a:t>One databricks.yml deploys the Volume job, the index, the model permissions, and the App.</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097280" y="4206240"/>
            <a:ext cx="3840480" cy="3840480"/>
          </a:xfrm>
          <a:prstGeom prst="ellipse">
            <a:avLst/>
          </a:prstGeom>
          <a:solidFill>
            <a:srgbClr val="0E8C84">
              <a:alpha val="40000"/>
            </a:srgbClr>
          </a:solidFill>
          <a:ln w="12700">
            <a:solidFill>
              <a:srgbClr val="0E8C84">
                <a:alpha val="40000"/>
              </a:srgbClr>
            </a:solidFill>
            <a:prstDash val="solid"/>
          </a:ln>
        </p:spPr>
      </p:sp>
      <p:sp>
        <p:nvSpPr>
          <p:cNvPr id="3" name="Text 1"/>
          <p:cNvSpPr txBox="1"/>
          <p:nvPr/>
        </p:nvSpPr>
        <p:spPr>
          <a:xfrm>
            <a:off x="731520" y="1463040"/>
            <a:ext cx="10058400" cy="731520"/>
          </a:xfrm>
          <a:prstGeom prst="rect">
            <a:avLst/>
          </a:prstGeom>
          <a:noFill/>
          <a:ln/>
        </p:spPr>
        <p:txBody>
          <a:bodyPr wrap="square" lIns="0" tIns="0" rIns="0" bIns="0" rtlCol="0" anchor="ctr"/>
          <a:lstStyle/>
          <a:p>
            <a:pPr indent="0" marL="0">
              <a:buNone/>
            </a:pPr>
            <a:r>
              <a:rPr lang="en-US" sz="4000" b="1" dirty="0">
                <a:solidFill>
                  <a:srgbClr val="D9542F"/>
                </a:solidFill>
                <a:latin typeface="Cambria" pitchFamily="34" charset="0"/>
                <a:ea typeface="Cambria" pitchFamily="34" charset="-122"/>
                <a:cs typeface="Cambria" pitchFamily="34" charset="-120"/>
              </a:rPr>
              <a:t>Summary</a:t>
            </a:r>
            <a:endParaRPr lang="en-US" sz="4000" dirty="0"/>
          </a:p>
        </p:txBody>
      </p:sp>
      <p:sp>
        <p:nvSpPr>
          <p:cNvPr id="4" name="Text 2"/>
          <p:cNvSpPr txBox="1"/>
          <p:nvPr/>
        </p:nvSpPr>
        <p:spPr>
          <a:xfrm>
            <a:off x="731520" y="2560320"/>
            <a:ext cx="10515600" cy="2286000"/>
          </a:xfrm>
          <a:prstGeom prst="rect">
            <a:avLst/>
          </a:prstGeom>
          <a:noFill/>
          <a:ln/>
        </p:spPr>
        <p:txBody>
          <a:bodyPr wrap="square" lIns="0" tIns="0" rIns="0" bIns="0" rtlCol="0" anchor="t"/>
          <a:lstStyle/>
          <a:p>
            <a:pPr marL="342900" indent="-3429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RAG: find the right text, then let the AI answer from it.</a:t>
            </a:r>
            <a:endParaRPr lang="en-US" sz="2400" dirty="0"/>
          </a:p>
          <a:p>
            <a:pPr marL="342900" indent="-3429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Chunking: cut documents into small, complete pieces.</a:t>
            </a:r>
            <a:endParaRPr lang="en-US" sz="2400" dirty="0"/>
          </a:p>
          <a:p>
            <a:pPr marL="342900" indent="-3429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Good chunks make good search, and good search makes good answers.</a:t>
            </a:r>
            <a:endParaRPr lang="en-US" sz="2400" dirty="0"/>
          </a:p>
        </p:txBody>
      </p:sp>
      <p:sp>
        <p:nvSpPr>
          <p:cNvPr id="5" name="Text 3"/>
          <p:cNvSpPr txBox="1"/>
          <p:nvPr/>
        </p:nvSpPr>
        <p:spPr>
          <a:xfrm>
            <a:off x="731520" y="5120640"/>
            <a:ext cx="10058400" cy="548640"/>
          </a:xfrm>
          <a:prstGeom prst="rect">
            <a:avLst/>
          </a:prstGeom>
          <a:noFill/>
          <a:ln/>
        </p:spPr>
        <p:txBody>
          <a:bodyPr wrap="square" lIns="0" tIns="0" rIns="0" bIns="0" rtlCol="0" anchor="ctr"/>
          <a:lstStyle/>
          <a:p>
            <a:pPr indent="0" marL="0">
              <a:buNone/>
            </a:pPr>
            <a:r>
              <a:rPr lang="en-US" sz="2000" dirty="0">
                <a:solidFill>
                  <a:srgbClr val="C9D6E3"/>
                </a:solidFill>
                <a:latin typeface="Calibri" pitchFamily="34" charset="0"/>
                <a:ea typeface="Calibri" pitchFamily="34" charset="-122"/>
                <a:cs typeface="Calibri" pitchFamily="34" charset="-120"/>
              </a:rPr>
              <a:t>Questions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Docs Assistant Works: RAG, Chunking and Databricks</dc:title>
  <dc:subject>PptxGenJS Presentation</dc:subject>
  <dc:creator>PptxGenJS</dc:creator>
  <cp:lastModifiedBy>PptxGenJS</cp:lastModifiedBy>
  <cp:revision>1</cp:revision>
  <dcterms:created xsi:type="dcterms:W3CDTF">2026-10-24T08:28:55Z</dcterms:created>
  <dcterms:modified xsi:type="dcterms:W3CDTF">2026-10-24T08:28:55Z</dcterms:modified>
</cp:coreProperties>
</file>